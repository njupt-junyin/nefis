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306" r:id="rId3"/>
    <p:sldId id="257" r:id="rId4"/>
    <p:sldId id="274" r:id="rId5"/>
    <p:sldId id="283" r:id="rId6"/>
    <p:sldId id="275" r:id="rId7"/>
    <p:sldId id="284" r:id="rId8"/>
    <p:sldId id="276" r:id="rId9"/>
    <p:sldId id="294" r:id="rId10"/>
    <p:sldId id="293" r:id="rId11"/>
    <p:sldId id="295" r:id="rId12"/>
    <p:sldId id="296" r:id="rId13"/>
    <p:sldId id="285" r:id="rId14"/>
    <p:sldId id="297" r:id="rId15"/>
    <p:sldId id="298" r:id="rId16"/>
    <p:sldId id="299" r:id="rId17"/>
    <p:sldId id="281" r:id="rId18"/>
    <p:sldId id="291" r:id="rId19"/>
    <p:sldId id="286" r:id="rId20"/>
    <p:sldId id="300" r:id="rId21"/>
    <p:sldId id="301" r:id="rId22"/>
    <p:sldId id="302" r:id="rId23"/>
    <p:sldId id="303" r:id="rId24"/>
    <p:sldId id="304" r:id="rId25"/>
    <p:sldId id="305" r:id="rId26"/>
    <p:sldId id="287" r:id="rId27"/>
    <p:sldId id="292"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691D1D-1CED-47F6-9DFD-72C6BD4F964F}" type="datetimeFigureOut">
              <a:rPr lang="zh-CN" altLang="en-US" smtClean="0"/>
              <a:t>2020/6/1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209162-A939-42A4-BA5D-9F7A9B5F6E28}" type="slidenum">
              <a:rPr lang="zh-CN" altLang="en-US" smtClean="0"/>
              <a:t>‹#›</a:t>
            </a:fld>
            <a:endParaRPr lang="zh-CN" altLang="en-US"/>
          </a:p>
        </p:txBody>
      </p:sp>
    </p:spTree>
    <p:extLst>
      <p:ext uri="{BB962C8B-B14F-4D97-AF65-F5344CB8AC3E}">
        <p14:creationId xmlns:p14="http://schemas.microsoft.com/office/powerpoint/2010/main" val="2439438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3EAA4AF-B0AE-42C7-9AD8-C74E868F5800}" type="slidenum">
              <a:rPr lang="zh-CN" altLang="en-US" smtClean="0"/>
              <a:t>5</a:t>
            </a:fld>
            <a:endParaRPr lang="zh-CN" altLang="en-US"/>
          </a:p>
        </p:txBody>
      </p:sp>
    </p:spTree>
    <p:extLst>
      <p:ext uri="{BB962C8B-B14F-4D97-AF65-F5344CB8AC3E}">
        <p14:creationId xmlns:p14="http://schemas.microsoft.com/office/powerpoint/2010/main" val="3768542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40437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111577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4119045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262728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3541712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1730056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443296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2177655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284146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1823711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04D2801-0970-46D6-B3BD-14E5A7770A2D}" type="datetimeFigureOut">
              <a:rPr lang="zh-CN" altLang="en-US" smtClean="0"/>
              <a:t>2020/6/1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4845013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General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1791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61000">
              <a:schemeClr val="accent5">
                <a:lumMod val="20000"/>
                <a:lumOff val="8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4D2801-0970-46D6-B3BD-14E5A7770A2D}" type="datetimeFigureOut">
              <a:rPr lang="zh-CN" altLang="en-US" smtClean="0"/>
              <a:t>2020/6/1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6E6216-2215-4B80-A1CF-95E6CC296DFB}" type="slidenum">
              <a:rPr lang="zh-CN" altLang="en-US" smtClean="0"/>
              <a:t>‹#›</a:t>
            </a:fld>
            <a:endParaRPr lang="zh-CN" altLang="en-US"/>
          </a:p>
        </p:txBody>
      </p:sp>
    </p:spTree>
    <p:extLst>
      <p:ext uri="{BB962C8B-B14F-4D97-AF65-F5344CB8AC3E}">
        <p14:creationId xmlns:p14="http://schemas.microsoft.com/office/powerpoint/2010/main" val="3483408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7.jpeg"/><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emf"/><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0.emf"/><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emf"/><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2.emf"/><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5.emf"/><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4.emf"/><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6.emf"/><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8.emf"/><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7.emf"/><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2000"/>
            <a:lum/>
          </a:blip>
          <a:srcRect/>
          <a:stretch>
            <a:fillRect l="-2000" t="-1000"/>
          </a:stretch>
        </a:blipFill>
        <a:effectLst/>
      </p:bgPr>
    </p:bg>
    <p:spTree>
      <p:nvGrpSpPr>
        <p:cNvPr id="1" name=""/>
        <p:cNvGrpSpPr/>
        <p:nvPr/>
      </p:nvGrpSpPr>
      <p:grpSpPr>
        <a:xfrm>
          <a:off x="0" y="0"/>
          <a:ext cx="0" cy="0"/>
          <a:chOff x="0" y="0"/>
          <a:chExt cx="0" cy="0"/>
        </a:xfrm>
      </p:grpSpPr>
      <p:sp>
        <p:nvSpPr>
          <p:cNvPr id="4" name="矩形 3"/>
          <p:cNvSpPr/>
          <p:nvPr/>
        </p:nvSpPr>
        <p:spPr>
          <a:xfrm>
            <a:off x="-13575" y="-22280"/>
            <a:ext cx="915436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sp>
        <p:nvSpPr>
          <p:cNvPr id="2" name="TextBox 1"/>
          <p:cNvSpPr txBox="1"/>
          <p:nvPr/>
        </p:nvSpPr>
        <p:spPr>
          <a:xfrm>
            <a:off x="627685" y="1340768"/>
            <a:ext cx="7871839" cy="1569660"/>
          </a:xfrm>
          <a:prstGeom prst="rect">
            <a:avLst/>
          </a:prstGeom>
          <a:noFill/>
        </p:spPr>
        <p:txBody>
          <a:bodyPr wrap="square" rtlCol="0">
            <a:spAutoFit/>
          </a:bodyPr>
          <a:lstStyle/>
          <a:p>
            <a:pPr algn="ctr"/>
            <a:r>
              <a:rPr lang="zh-CN" altLang="en-US" sz="4800" dirty="0" smtClean="0">
                <a:solidFill>
                  <a:schemeClr val="tx1">
                    <a:lumMod val="75000"/>
                    <a:lumOff val="25000"/>
                  </a:schemeClr>
                </a:solidFill>
                <a:latin typeface="黑体" pitchFamily="49" charset="-122"/>
                <a:ea typeface="黑体" pitchFamily="49" charset="-122"/>
              </a:rPr>
              <a:t>面向网络编码的有限域基础运算库设计与实现</a:t>
            </a:r>
            <a:endParaRPr lang="zh-CN" altLang="en-US" sz="4800" dirty="0">
              <a:solidFill>
                <a:schemeClr val="tx1">
                  <a:lumMod val="75000"/>
                  <a:lumOff val="25000"/>
                </a:schemeClr>
              </a:solidFill>
              <a:latin typeface="黑体" pitchFamily="49" charset="-122"/>
              <a:ea typeface="黑体" pitchFamily="49" charset="-122"/>
            </a:endParaRPr>
          </a:p>
        </p:txBody>
      </p:sp>
      <p:pic>
        <p:nvPicPr>
          <p:cNvPr id="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237978" y="3328262"/>
            <a:ext cx="5904656" cy="923330"/>
          </a:xfrm>
          <a:prstGeom prst="rect">
            <a:avLst/>
          </a:prstGeom>
          <a:noFill/>
        </p:spPr>
        <p:txBody>
          <a:bodyPr wrap="square" rtlCol="0">
            <a:spAutoFit/>
          </a:bodyPr>
          <a:lstStyle/>
          <a:p>
            <a:r>
              <a:rPr lang="zh-CN" altLang="en-US" sz="5400" b="1" dirty="0" smtClean="0"/>
              <a:t>毕业设计答辩</a:t>
            </a:r>
            <a:endParaRPr lang="zh-CN" altLang="en-US" sz="5400" b="1" dirty="0"/>
          </a:p>
        </p:txBody>
      </p:sp>
      <p:sp>
        <p:nvSpPr>
          <p:cNvPr id="8" name="文本框 7"/>
          <p:cNvSpPr txBox="1"/>
          <p:nvPr/>
        </p:nvSpPr>
        <p:spPr>
          <a:xfrm>
            <a:off x="1589906" y="5733256"/>
            <a:ext cx="7200800" cy="523220"/>
          </a:xfrm>
          <a:prstGeom prst="rect">
            <a:avLst/>
          </a:prstGeom>
          <a:noFill/>
        </p:spPr>
        <p:txBody>
          <a:bodyPr wrap="square" rtlCol="0">
            <a:spAutoFit/>
          </a:bodyPr>
          <a:lstStyle/>
          <a:p>
            <a:r>
              <a:rPr lang="en-US" altLang="zh-CN" sz="2800" b="1" dirty="0" smtClean="0"/>
              <a:t>  </a:t>
            </a:r>
            <a:r>
              <a:rPr lang="zh-CN" altLang="en-US" sz="2800" b="1" dirty="0" smtClean="0"/>
              <a:t>物联网学院   网络工程    </a:t>
            </a:r>
            <a:r>
              <a:rPr lang="en-US" altLang="zh-CN" sz="2800" b="1" dirty="0" smtClean="0"/>
              <a:t>B16090318 </a:t>
            </a:r>
            <a:r>
              <a:rPr lang="zh-CN" altLang="en-US" sz="2800" b="1" dirty="0" smtClean="0"/>
              <a:t>姚毓昆</a:t>
            </a:r>
            <a:endParaRPr lang="zh-CN" altLang="en-US" sz="2800" b="1" dirty="0"/>
          </a:p>
        </p:txBody>
      </p:sp>
    </p:spTree>
    <p:extLst>
      <p:ext uri="{BB962C8B-B14F-4D97-AF65-F5344CB8AC3E}">
        <p14:creationId xmlns:p14="http://schemas.microsoft.com/office/powerpoint/2010/main" val="2599127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
        <p:nvSpPr>
          <p:cNvPr id="8" name="矩形 7"/>
          <p:cNvSpPr/>
          <p:nvPr/>
        </p:nvSpPr>
        <p:spPr>
          <a:xfrm>
            <a:off x="3758956" y="1317372"/>
            <a:ext cx="5295641" cy="5084274"/>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矩形 8"/>
          <p:cNvSpPr/>
          <p:nvPr/>
        </p:nvSpPr>
        <p:spPr>
          <a:xfrm>
            <a:off x="5368655" y="1331882"/>
            <a:ext cx="2191823" cy="499624"/>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2000" b="1" dirty="0" smtClean="0">
                <a:solidFill>
                  <a:prstClr val="black">
                    <a:lumMod val="75000"/>
                    <a:lumOff val="25000"/>
                  </a:prstClr>
                </a:solidFill>
                <a:latin typeface="微软雅黑" panose="020B0503020204020204" pitchFamily="34" charset="-122"/>
                <a:ea typeface="微软雅黑" panose="020B0503020204020204" pitchFamily="34" charset="-122"/>
                <a:cs typeface="Segoe UI Semilight" panose="020B0402040204020203" pitchFamily="34" charset="0"/>
              </a:rPr>
              <a:t>本科经历</a:t>
            </a:r>
            <a:endParaRPr kumimoji="0" lang="zh-CN" altLang="en-US" sz="20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Segoe UI Semilight" panose="020B0402040204020203" pitchFamily="34" charset="0"/>
            </a:endParaRPr>
          </a:p>
        </p:txBody>
      </p:sp>
      <p:sp>
        <p:nvSpPr>
          <p:cNvPr id="10" name="TextBox 41"/>
          <p:cNvSpPr txBox="1"/>
          <p:nvPr/>
        </p:nvSpPr>
        <p:spPr>
          <a:xfrm>
            <a:off x="3798715" y="1817938"/>
            <a:ext cx="5070798" cy="6217038"/>
          </a:xfrm>
          <a:prstGeom prst="rect">
            <a:avLst/>
          </a:prstGeom>
          <a:noFill/>
        </p:spPr>
        <p:txBody>
          <a:bodyPr wrap="square" lIns="60911" tIns="30456" rIns="60911" bIns="30456" rtlCol="0">
            <a:spAutoFit/>
          </a:bodyPr>
          <a:lstStyle/>
          <a:p>
            <a:pPr marL="0" marR="0" lvl="0" indent="457200" algn="ju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大二从地理与生物信息学院转入物联网学院；</a:t>
            </a:r>
            <a:endPar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just" defTabSz="914400" rtl="0" eaLnBrk="1" fontAlgn="auto" latinLnBrk="0" hangingPunct="1">
              <a:lnSpc>
                <a:spcPct val="100000"/>
              </a:lnSpc>
              <a:spcBef>
                <a:spcPts val="0"/>
              </a:spcBef>
              <a:spcAft>
                <a:spcPts val="0"/>
              </a:spcAft>
              <a:buClrTx/>
              <a:buSzTx/>
              <a:buFontTx/>
              <a:buNone/>
              <a:tabLst/>
              <a:defRPr/>
            </a:pPr>
            <a:r>
              <a:rPr lang="en-US" altLang="zh-CN" sz="2000" noProof="0" dirty="0" smtClean="0">
                <a:solidFill>
                  <a:prstClr val="black"/>
                </a:solidFill>
                <a:latin typeface="Calibri"/>
                <a:ea typeface="宋体" panose="02010600030101010101" pitchFamily="2" charset="-122"/>
              </a:rPr>
              <a:t>2016-2017</a:t>
            </a:r>
            <a:r>
              <a:rPr lang="zh-CN" altLang="en-US" sz="2000" noProof="0" dirty="0" smtClean="0">
                <a:solidFill>
                  <a:prstClr val="black"/>
                </a:solidFill>
                <a:latin typeface="Calibri"/>
                <a:ea typeface="宋体" panose="02010600030101010101" pitchFamily="2" charset="-122"/>
              </a:rPr>
              <a:t>年 获</a:t>
            </a:r>
            <a:r>
              <a:rPr lang="zh-CN" altLang="en-US" sz="2000" dirty="0" smtClean="0">
                <a:solidFill>
                  <a:prstClr val="black"/>
                </a:solidFill>
                <a:latin typeface="Calibri"/>
                <a:ea typeface="宋体" panose="02010600030101010101" pitchFamily="2" charset="-122"/>
              </a:rPr>
              <a:t>三好学生、二等奖学金；</a:t>
            </a:r>
            <a:endParaRPr lang="en-US" altLang="zh-CN" sz="2000" dirty="0" smtClean="0">
              <a:solidFill>
                <a:prstClr val="black"/>
              </a:solidFill>
              <a:latin typeface="Calibri"/>
              <a:ea typeface="宋体" panose="02010600030101010101" pitchFamily="2" charset="-122"/>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lang="en-US" altLang="zh-CN" sz="2000" dirty="0" smtClean="0">
              <a:solidFill>
                <a:prstClr val="black"/>
              </a:solidFill>
              <a:latin typeface="Calibri"/>
              <a:ea typeface="宋体" panose="02010600030101010101" pitchFamily="2" charset="-122"/>
            </a:endParaRPr>
          </a:p>
          <a:p>
            <a:pPr marL="0" marR="0" lvl="0" indent="457200"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2018-2019</a:t>
            </a:r>
            <a:r>
              <a:rPr kumimoji="0" lang="zh-CN" altLang="en-US"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年</a:t>
            </a:r>
            <a:r>
              <a:rPr lang="zh-CN" altLang="en-US" sz="2000" dirty="0">
                <a:solidFill>
                  <a:prstClr val="black"/>
                </a:solidFill>
                <a:latin typeface="Calibri"/>
                <a:ea typeface="宋体" panose="02010600030101010101" pitchFamily="2" charset="-122"/>
              </a:rPr>
              <a:t> </a:t>
            </a:r>
            <a:r>
              <a:rPr lang="zh-CN" altLang="en-US" sz="2000" noProof="0" dirty="0" smtClean="0">
                <a:solidFill>
                  <a:prstClr val="black"/>
                </a:solidFill>
                <a:latin typeface="Calibri"/>
                <a:ea typeface="宋体" panose="02010600030101010101" pitchFamily="2" charset="-122"/>
              </a:rPr>
              <a:t>担任</a:t>
            </a:r>
            <a:r>
              <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STITP</a:t>
            </a:r>
            <a:r>
              <a:rPr kumimoji="0" lang="zh-CN" altLang="en-US"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项目负责人，获优秀奖；</a:t>
            </a:r>
            <a:r>
              <a:rPr lang="zh-CN" altLang="en-US" sz="2000" dirty="0" smtClean="0">
                <a:solidFill>
                  <a:prstClr val="black"/>
                </a:solidFill>
                <a:latin typeface="Calibri"/>
                <a:ea typeface="宋体" panose="02010600030101010101" pitchFamily="2" charset="-122"/>
              </a:rPr>
              <a:t>同期发表了</a:t>
            </a:r>
            <a:r>
              <a:rPr lang="en-US" altLang="zh-CN" sz="2000" dirty="0" smtClean="0">
                <a:solidFill>
                  <a:prstClr val="black"/>
                </a:solidFill>
                <a:latin typeface="Calibri"/>
                <a:ea typeface="宋体" panose="02010600030101010101" pitchFamily="2" charset="-122"/>
              </a:rPr>
              <a:t>《</a:t>
            </a:r>
            <a:r>
              <a:rPr lang="zh-CN" altLang="zh-CN" sz="2000" dirty="0">
                <a:solidFill>
                  <a:prstClr val="black"/>
                </a:solidFill>
                <a:latin typeface="Calibri"/>
                <a:ea typeface="宋体" panose="02010600030101010101" pitchFamily="2" charset="-122"/>
              </a:rPr>
              <a:t>一种面向智能终端自组网的</a:t>
            </a:r>
            <a:r>
              <a:rPr lang="en-US" altLang="zh-CN" sz="2000" dirty="0">
                <a:solidFill>
                  <a:prstClr val="black"/>
                </a:solidFill>
                <a:latin typeface="Calibri"/>
                <a:ea typeface="宋体" panose="02010600030101010101" pitchFamily="2" charset="-122"/>
              </a:rPr>
              <a:t>BATMAN-</a:t>
            </a:r>
            <a:r>
              <a:rPr lang="en-US" altLang="zh-CN" sz="2000" dirty="0" err="1">
                <a:solidFill>
                  <a:prstClr val="black"/>
                </a:solidFill>
                <a:latin typeface="Calibri"/>
                <a:ea typeface="宋体" panose="02010600030101010101" pitchFamily="2" charset="-122"/>
              </a:rPr>
              <a:t>Adv</a:t>
            </a:r>
            <a:r>
              <a:rPr lang="zh-CN" altLang="zh-CN" sz="2000" dirty="0">
                <a:solidFill>
                  <a:prstClr val="black"/>
                </a:solidFill>
                <a:latin typeface="Calibri"/>
                <a:ea typeface="宋体" panose="02010600030101010101" pitchFamily="2" charset="-122"/>
              </a:rPr>
              <a:t>协议优化设计方法</a:t>
            </a:r>
            <a:r>
              <a:rPr lang="en-US" altLang="zh-CN" sz="2000" dirty="0">
                <a:solidFill>
                  <a:prstClr val="black"/>
                </a:solidFill>
                <a:latin typeface="Calibri"/>
                <a:ea typeface="宋体" panose="02010600030101010101" pitchFamily="2" charset="-122"/>
              </a:rPr>
              <a:t>》</a:t>
            </a:r>
            <a:r>
              <a:rPr lang="zh-CN" altLang="en-US" sz="2000" dirty="0">
                <a:solidFill>
                  <a:prstClr val="black"/>
                </a:solidFill>
                <a:latin typeface="Calibri"/>
                <a:ea typeface="宋体" panose="02010600030101010101" pitchFamily="2" charset="-122"/>
              </a:rPr>
              <a:t>专利</a:t>
            </a:r>
            <a:r>
              <a:rPr lang="zh-CN" altLang="en-US" sz="2000" dirty="0" smtClean="0">
                <a:solidFill>
                  <a:prstClr val="black"/>
                </a:solidFill>
                <a:latin typeface="Calibri"/>
                <a:ea typeface="宋体" panose="02010600030101010101" pitchFamily="2" charset="-122"/>
              </a:rPr>
              <a:t>；</a:t>
            </a:r>
            <a:endParaRPr lang="en-US" altLang="zh-CN" sz="2000" dirty="0" smtClean="0">
              <a:solidFill>
                <a:prstClr val="black"/>
              </a:solidFill>
              <a:latin typeface="Calibri"/>
              <a:ea typeface="宋体" panose="02010600030101010101" pitchFamily="2" charset="-122"/>
            </a:endParaRPr>
          </a:p>
          <a:p>
            <a:pPr marL="0" marR="0" lvl="0" indent="457200" defTabSz="914400" rtl="0" eaLnBrk="1" fontAlgn="auto" latinLnBrk="0" hangingPunct="1">
              <a:lnSpc>
                <a:spcPct val="100000"/>
              </a:lnSpc>
              <a:spcBef>
                <a:spcPts val="0"/>
              </a:spcBef>
              <a:spcAft>
                <a:spcPts val="0"/>
              </a:spcAft>
              <a:buClrTx/>
              <a:buSzTx/>
              <a:buFontTx/>
              <a:buNone/>
              <a:tabLst/>
              <a:defRPr/>
            </a:pPr>
            <a:endParaRPr lang="en-US" altLang="zh-CN" sz="2000" dirty="0" smtClean="0">
              <a:solidFill>
                <a:prstClr val="black"/>
              </a:solidFill>
              <a:latin typeface="Calibri"/>
              <a:ea typeface="宋体" panose="02010600030101010101" pitchFamily="2" charset="-122"/>
            </a:endParaRPr>
          </a:p>
          <a:p>
            <a:pPr lvl="0" indent="457200" algn="just"/>
            <a:r>
              <a:rPr lang="en-US" altLang="zh-CN" sz="2000" dirty="0" smtClean="0">
                <a:solidFill>
                  <a:prstClr val="black"/>
                </a:solidFill>
                <a:latin typeface="Calibri"/>
                <a:ea typeface="宋体" panose="02010600030101010101" pitchFamily="2" charset="-122"/>
              </a:rPr>
              <a:t>2019</a:t>
            </a:r>
            <a:r>
              <a:rPr lang="zh-CN" altLang="en-US" sz="2000" dirty="0" smtClean="0">
                <a:solidFill>
                  <a:prstClr val="black"/>
                </a:solidFill>
                <a:latin typeface="Calibri"/>
                <a:ea typeface="宋体" panose="02010600030101010101" pitchFamily="2" charset="-122"/>
              </a:rPr>
              <a:t>年“华为网络精英挑战赛”江苏山东赛区决赛亚军；</a:t>
            </a:r>
            <a:endParaRPr lang="en-US" altLang="zh-CN" sz="2000" dirty="0" smtClean="0">
              <a:solidFill>
                <a:prstClr val="black"/>
              </a:solidFill>
              <a:latin typeface="Calibri"/>
              <a:ea typeface="宋体" panose="02010600030101010101" pitchFamily="2" charset="-122"/>
            </a:endParaRPr>
          </a:p>
          <a:p>
            <a:pPr lvl="0" indent="457200" algn="just"/>
            <a:endParaRPr lang="en-US" altLang="zh-CN" sz="2000" dirty="0" smtClean="0">
              <a:solidFill>
                <a:prstClr val="black"/>
              </a:solidFill>
              <a:latin typeface="Calibri"/>
              <a:ea typeface="宋体" panose="02010600030101010101" pitchFamily="2" charset="-122"/>
            </a:endParaRPr>
          </a:p>
          <a:p>
            <a:pPr lvl="0" indent="457200" algn="just"/>
            <a:r>
              <a:rPr lang="en-US" altLang="zh-CN" sz="2000" dirty="0" smtClean="0">
                <a:solidFill>
                  <a:prstClr val="black"/>
                </a:solidFill>
                <a:latin typeface="Calibri"/>
                <a:ea typeface="宋体" panose="02010600030101010101" pitchFamily="2" charset="-122"/>
              </a:rPr>
              <a:t>2019</a:t>
            </a:r>
            <a:r>
              <a:rPr lang="zh-CN" altLang="en-US" sz="2000" dirty="0" smtClean="0">
                <a:solidFill>
                  <a:prstClr val="black"/>
                </a:solidFill>
                <a:latin typeface="Calibri"/>
                <a:ea typeface="宋体" panose="02010600030101010101" pitchFamily="2" charset="-122"/>
              </a:rPr>
              <a:t>年“深信服第二届网络技术挑战赛”优秀个人。</a:t>
            </a:r>
            <a:endParaRPr lang="en-US" altLang="zh-CN" sz="2000" dirty="0">
              <a:solidFill>
                <a:prstClr val="black"/>
              </a:solidFill>
              <a:latin typeface="Calibri"/>
              <a:ea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2000" dirty="0">
              <a:solidFill>
                <a:prstClr val="black"/>
              </a:solidFill>
              <a:latin typeface="Calibri"/>
              <a:ea typeface="宋体" panose="02010600030101010101" pitchFamily="2" charset="-122"/>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2000" dirty="0">
              <a:solidFill>
                <a:prstClr val="black"/>
              </a:solidFill>
              <a:latin typeface="Calibri"/>
              <a:ea typeface="宋体" panose="02010600030101010101" pitchFamily="2"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2000" dirty="0">
              <a:solidFill>
                <a:prstClr val="black"/>
              </a:solidFill>
              <a:latin typeface="Calibri"/>
              <a:ea typeface="宋体" panose="02010600030101010101" pitchFamily="2"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394347"/>
            <a:ext cx="901700"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椭圆 15"/>
          <p:cNvSpPr/>
          <p:nvPr/>
        </p:nvSpPr>
        <p:spPr>
          <a:xfrm>
            <a:off x="3449015" y="4613890"/>
            <a:ext cx="189375" cy="189375"/>
          </a:xfrm>
          <a:prstGeom prst="ellipse">
            <a:avLst/>
          </a:prstGeom>
          <a:gradFill>
            <a:gsLst>
              <a:gs pos="0">
                <a:srgbClr val="6483B3"/>
              </a:gs>
              <a:gs pos="100000">
                <a:srgbClr val="334E6E"/>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C00000"/>
              </a:solidFill>
              <a:effectLst/>
              <a:uLnTx/>
              <a:uFillTx/>
              <a:latin typeface="微软雅黑" pitchFamily="34" charset="-122"/>
              <a:ea typeface="微软雅黑" pitchFamily="34" charset="-122"/>
              <a:cs typeface="+mn-cs"/>
            </a:endParaRPr>
          </a:p>
        </p:txBody>
      </p:sp>
      <p:pic>
        <p:nvPicPr>
          <p:cNvPr id="61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9777" y="4102274"/>
            <a:ext cx="658813"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图片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7527" y="2204864"/>
            <a:ext cx="3210682" cy="1988369"/>
          </a:xfrm>
          <a:prstGeom prst="rect">
            <a:avLst/>
          </a:prstGeom>
        </p:spPr>
      </p:pic>
      <p:pic>
        <p:nvPicPr>
          <p:cNvPr id="614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471" y="1700808"/>
            <a:ext cx="896937"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97965" y="3890265"/>
            <a:ext cx="706437"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9902" y="2388751"/>
            <a:ext cx="658813"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椭圆 19"/>
          <p:cNvSpPr/>
          <p:nvPr/>
        </p:nvSpPr>
        <p:spPr>
          <a:xfrm>
            <a:off x="565251" y="4571722"/>
            <a:ext cx="189375" cy="189375"/>
          </a:xfrm>
          <a:prstGeom prst="ellipse">
            <a:avLst/>
          </a:prstGeom>
          <a:gradFill>
            <a:gsLst>
              <a:gs pos="0">
                <a:srgbClr val="6483B3"/>
              </a:gs>
              <a:gs pos="100000">
                <a:srgbClr val="334E6E"/>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C00000"/>
              </a:solidFill>
              <a:effectLst/>
              <a:uLnTx/>
              <a:uFillTx/>
              <a:latin typeface="微软雅黑" pitchFamily="34" charset="-122"/>
              <a:ea typeface="微软雅黑" pitchFamily="34" charset="-122"/>
              <a:cs typeface="+mn-cs"/>
            </a:endParaRPr>
          </a:p>
        </p:txBody>
      </p:sp>
      <p:pic>
        <p:nvPicPr>
          <p:cNvPr id="21" name="Picture 3" descr="E:\融媒体\图标8.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36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8" name="图片 7">
            <a:extLst>
              <a:ext uri="{FF2B5EF4-FFF2-40B4-BE49-F238E27FC236}">
                <a16:creationId xmlns:a16="http://schemas.microsoft.com/office/drawing/2014/main" id="{5D1FD07B-4B02-4D14-A71A-727161332055}"/>
              </a:ext>
            </a:extLst>
          </p:cNvPr>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0676" y="2132856"/>
            <a:ext cx="2657016" cy="2645046"/>
          </a:xfrm>
          <a:prstGeom prst="rect">
            <a:avLst/>
          </a:prstGeom>
          <a:ln>
            <a:noFill/>
          </a:ln>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4901" y="1700808"/>
            <a:ext cx="596900" cy="59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6460" y="2858478"/>
            <a:ext cx="5969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6460" y="3985835"/>
            <a:ext cx="5969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a:extLst>
              <a:ext uri="{FF2B5EF4-FFF2-40B4-BE49-F238E27FC236}">
                <a16:creationId xmlns:a16="http://schemas.microsoft.com/office/drawing/2014/main" id="{270F2E0F-0288-490F-9603-BB86F8A96839}"/>
              </a:ext>
            </a:extLst>
          </p:cNvPr>
          <p:cNvSpPr/>
          <p:nvPr/>
        </p:nvSpPr>
        <p:spPr>
          <a:xfrm>
            <a:off x="1115616" y="3070658"/>
            <a:ext cx="1585912" cy="769441"/>
          </a:xfrm>
          <a:prstGeom prst="rect">
            <a:avLst/>
          </a:prstGeom>
        </p:spPr>
        <p:txBody>
          <a:bodyPr wrap="square">
            <a:spAutoFit/>
          </a:bodyPr>
          <a:lstStyle/>
          <a:p>
            <a:pPr lvl="0" algn="ctr"/>
            <a:r>
              <a:rPr lang="zh-CN" altLang="en-US" sz="2400" b="1" dirty="0">
                <a:solidFill>
                  <a:schemeClr val="tx2"/>
                </a:solidFill>
              </a:rPr>
              <a:t>目录</a:t>
            </a:r>
            <a:endParaRPr lang="en-US" altLang="zh-CN" sz="2400" b="1" dirty="0">
              <a:solidFill>
                <a:schemeClr val="tx2"/>
              </a:solidFill>
            </a:endParaRPr>
          </a:p>
          <a:p>
            <a:pPr lvl="0" algn="ctr"/>
            <a:r>
              <a:rPr lang="en-US" altLang="zh-CN" sz="2000" dirty="0"/>
              <a:t>CONTNET</a:t>
            </a:r>
            <a:endParaRPr lang="zh-CN" altLang="en-US" sz="2000" dirty="0"/>
          </a:p>
        </p:txBody>
      </p:sp>
      <p:sp>
        <p:nvSpPr>
          <p:cNvPr id="13" name="文本框 8"/>
          <p:cNvSpPr txBox="1"/>
          <p:nvPr/>
        </p:nvSpPr>
        <p:spPr>
          <a:xfrm>
            <a:off x="5988680" y="1766185"/>
            <a:ext cx="2339102" cy="461665"/>
          </a:xfrm>
          <a:prstGeom prst="rect">
            <a:avLst/>
          </a:prstGeom>
          <a:noFill/>
          <a:ln>
            <a:solidFill>
              <a:schemeClr val="tx2"/>
            </a:solidFill>
          </a:ln>
        </p:spPr>
        <p:txBody>
          <a:bodyPr wrap="none" rtlCol="0">
            <a:spAutoFit/>
          </a:bodyPr>
          <a:lstStyle/>
          <a:p>
            <a:r>
              <a:rPr lang="zh-CN" altLang="en-US" sz="2400" dirty="0" smtClean="0">
                <a:solidFill>
                  <a:schemeClr val="tx2"/>
                </a:solidFill>
              </a:rPr>
              <a:t>研究背景和内容</a:t>
            </a:r>
            <a:endParaRPr lang="zh-CN" altLang="en-US" sz="2400" dirty="0">
              <a:solidFill>
                <a:schemeClr val="tx2"/>
              </a:solidFill>
            </a:endParaRPr>
          </a:p>
        </p:txBody>
      </p:sp>
      <p:sp>
        <p:nvSpPr>
          <p:cNvPr id="16" name="文本框 8"/>
          <p:cNvSpPr txBox="1"/>
          <p:nvPr/>
        </p:nvSpPr>
        <p:spPr>
          <a:xfrm>
            <a:off x="5988680" y="2972262"/>
            <a:ext cx="1415772" cy="461665"/>
          </a:xfrm>
          <a:prstGeom prst="rect">
            <a:avLst/>
          </a:prstGeom>
          <a:noFill/>
          <a:ln>
            <a:solidFill>
              <a:schemeClr val="tx2"/>
            </a:solidFill>
          </a:ln>
        </p:spPr>
        <p:txBody>
          <a:bodyPr wrap="none" rtlCol="0">
            <a:spAutoFit/>
          </a:bodyPr>
          <a:lstStyle/>
          <a:p>
            <a:r>
              <a:rPr lang="zh-CN" altLang="en-US" sz="2400" dirty="0" smtClean="0">
                <a:solidFill>
                  <a:schemeClr val="tx2"/>
                </a:solidFill>
              </a:rPr>
              <a:t>理论基础</a:t>
            </a:r>
            <a:endParaRPr lang="zh-CN" altLang="en-US" sz="2400" dirty="0">
              <a:solidFill>
                <a:schemeClr val="tx2"/>
              </a:solidFill>
            </a:endParaRPr>
          </a:p>
        </p:txBody>
      </p:sp>
      <p:sp>
        <p:nvSpPr>
          <p:cNvPr id="17" name="文本框 8"/>
          <p:cNvSpPr txBox="1"/>
          <p:nvPr/>
        </p:nvSpPr>
        <p:spPr>
          <a:xfrm>
            <a:off x="5988680" y="4099619"/>
            <a:ext cx="1415772" cy="461665"/>
          </a:xfrm>
          <a:prstGeom prst="rect">
            <a:avLst/>
          </a:prstGeom>
          <a:noFill/>
          <a:ln>
            <a:solidFill>
              <a:schemeClr val="tx2"/>
            </a:solidFill>
          </a:ln>
        </p:spPr>
        <p:txBody>
          <a:bodyPr wrap="none" rtlCol="0">
            <a:spAutoFit/>
          </a:bodyPr>
          <a:lstStyle/>
          <a:p>
            <a:r>
              <a:rPr lang="zh-CN" altLang="en-US" sz="2400" dirty="0" smtClean="0">
                <a:solidFill>
                  <a:schemeClr val="tx2"/>
                </a:solidFill>
              </a:rPr>
              <a:t>算法设计</a:t>
            </a:r>
            <a:endParaRPr lang="zh-CN" altLang="en-US" sz="2400" dirty="0">
              <a:solidFill>
                <a:schemeClr val="tx2"/>
              </a:solidFill>
            </a:endParaRPr>
          </a:p>
        </p:txBody>
      </p:sp>
      <p:pic>
        <p:nvPicPr>
          <p:cNvPr id="1029"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5264" y="5157192"/>
            <a:ext cx="5969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文本框 8"/>
          <p:cNvSpPr txBox="1"/>
          <p:nvPr/>
        </p:nvSpPr>
        <p:spPr>
          <a:xfrm>
            <a:off x="6013398" y="5270976"/>
            <a:ext cx="1415772" cy="461665"/>
          </a:xfrm>
          <a:prstGeom prst="rect">
            <a:avLst/>
          </a:prstGeom>
          <a:noFill/>
          <a:ln>
            <a:solidFill>
              <a:schemeClr val="tx2"/>
            </a:solidFill>
          </a:ln>
        </p:spPr>
        <p:txBody>
          <a:bodyPr wrap="none" rtlCol="0">
            <a:spAutoFit/>
          </a:bodyPr>
          <a:lstStyle/>
          <a:p>
            <a:r>
              <a:rPr lang="zh-CN" altLang="en-US" sz="2400" dirty="0" smtClean="0">
                <a:solidFill>
                  <a:schemeClr val="tx2"/>
                </a:solidFill>
              </a:rPr>
              <a:t>实验测试</a:t>
            </a:r>
            <a:endParaRPr lang="zh-CN" altLang="en-US" sz="2400" dirty="0">
              <a:solidFill>
                <a:schemeClr val="tx2"/>
              </a:solidFill>
            </a:endParaRPr>
          </a:p>
        </p:txBody>
      </p:sp>
      <p:pic>
        <p:nvPicPr>
          <p:cNvPr id="18" name="Picture 3" descr="E:\融媒体\图标8.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612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ppt_x"/>
                                          </p:val>
                                        </p:tav>
                                        <p:tav tm="100000">
                                          <p:val>
                                            <p:strVal val="#ppt_x"/>
                                          </p:val>
                                        </p:tav>
                                      </p:tavLst>
                                    </p:anim>
                                    <p:anim calcmode="lin" valueType="num">
                                      <p:cBhvr additive="base">
                                        <p:cTn id="18" dur="500" fill="hold"/>
                                        <p:tgtEl>
                                          <p:spTgt spid="102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27"/>
                                        </p:tgtEl>
                                        <p:attrNameLst>
                                          <p:attrName>style.visibility</p:attrName>
                                        </p:attrNameLst>
                                      </p:cBhvr>
                                      <p:to>
                                        <p:strVal val="visible"/>
                                      </p:to>
                                    </p:set>
                                    <p:anim calcmode="lin" valueType="num">
                                      <p:cBhvr additive="base">
                                        <p:cTn id="27" dur="500" fill="hold"/>
                                        <p:tgtEl>
                                          <p:spTgt spid="1027"/>
                                        </p:tgtEl>
                                        <p:attrNameLst>
                                          <p:attrName>ppt_x</p:attrName>
                                        </p:attrNameLst>
                                      </p:cBhvr>
                                      <p:tavLst>
                                        <p:tav tm="0">
                                          <p:val>
                                            <p:strVal val="#ppt_x"/>
                                          </p:val>
                                        </p:tav>
                                        <p:tav tm="100000">
                                          <p:val>
                                            <p:strVal val="#ppt_x"/>
                                          </p:val>
                                        </p:tav>
                                      </p:tavLst>
                                    </p:anim>
                                    <p:anim calcmode="lin" valueType="num">
                                      <p:cBhvr additive="base">
                                        <p:cTn id="28" dur="500" fill="hold"/>
                                        <p:tgtEl>
                                          <p:spTgt spid="102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28"/>
                                        </p:tgtEl>
                                        <p:attrNameLst>
                                          <p:attrName>style.visibility</p:attrName>
                                        </p:attrNameLst>
                                      </p:cBhvr>
                                      <p:to>
                                        <p:strVal val="visible"/>
                                      </p:to>
                                    </p:set>
                                    <p:anim calcmode="lin" valueType="num">
                                      <p:cBhvr additive="base">
                                        <p:cTn id="37" dur="500" fill="hold"/>
                                        <p:tgtEl>
                                          <p:spTgt spid="1028"/>
                                        </p:tgtEl>
                                        <p:attrNameLst>
                                          <p:attrName>ppt_x</p:attrName>
                                        </p:attrNameLst>
                                      </p:cBhvr>
                                      <p:tavLst>
                                        <p:tav tm="0">
                                          <p:val>
                                            <p:strVal val="#ppt_x"/>
                                          </p:val>
                                        </p:tav>
                                        <p:tav tm="100000">
                                          <p:val>
                                            <p:strVal val="#ppt_x"/>
                                          </p:val>
                                        </p:tav>
                                      </p:tavLst>
                                    </p:anim>
                                    <p:anim calcmode="lin" valueType="num">
                                      <p:cBhvr additive="base">
                                        <p:cTn id="38" dur="500" fill="hold"/>
                                        <p:tgtEl>
                                          <p:spTgt spid="102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additive="base">
                                        <p:cTn id="41" dur="500" fill="hold"/>
                                        <p:tgtEl>
                                          <p:spTgt spid="17"/>
                                        </p:tgtEl>
                                        <p:attrNameLst>
                                          <p:attrName>ppt_x</p:attrName>
                                        </p:attrNameLst>
                                      </p:cBhvr>
                                      <p:tavLst>
                                        <p:tav tm="0">
                                          <p:val>
                                            <p:strVal val="#ppt_x"/>
                                          </p:val>
                                        </p:tav>
                                        <p:tav tm="100000">
                                          <p:val>
                                            <p:strVal val="#ppt_x"/>
                                          </p:val>
                                        </p:tav>
                                      </p:tavLst>
                                    </p:anim>
                                    <p:anim calcmode="lin" valueType="num">
                                      <p:cBhvr additive="base">
                                        <p:cTn id="4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29"/>
                                        </p:tgtEl>
                                        <p:attrNameLst>
                                          <p:attrName>style.visibility</p:attrName>
                                        </p:attrNameLst>
                                      </p:cBhvr>
                                      <p:to>
                                        <p:strVal val="visible"/>
                                      </p:to>
                                    </p:set>
                                    <p:anim calcmode="lin" valueType="num">
                                      <p:cBhvr additive="base">
                                        <p:cTn id="47" dur="500" fill="hold"/>
                                        <p:tgtEl>
                                          <p:spTgt spid="1029"/>
                                        </p:tgtEl>
                                        <p:attrNameLst>
                                          <p:attrName>ppt_x</p:attrName>
                                        </p:attrNameLst>
                                      </p:cBhvr>
                                      <p:tavLst>
                                        <p:tav tm="0">
                                          <p:val>
                                            <p:strVal val="#ppt_x"/>
                                          </p:val>
                                        </p:tav>
                                        <p:tav tm="100000">
                                          <p:val>
                                            <p:strVal val="#ppt_x"/>
                                          </p:val>
                                        </p:tav>
                                      </p:tavLst>
                                    </p:anim>
                                    <p:anim calcmode="lin" valueType="num">
                                      <p:cBhvr additive="base">
                                        <p:cTn id="48" dur="500" fill="hold"/>
                                        <p:tgtEl>
                                          <p:spTgt spid="102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6" grpId="0" animBg="1"/>
      <p:bldP spid="17"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2279"/>
            <a:ext cx="9144000" cy="945214"/>
            <a:chOff x="0" y="-22279"/>
            <a:chExt cx="9144000" cy="945214"/>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gr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8" name="图片 7">
            <a:extLst>
              <a:ext uri="{FF2B5EF4-FFF2-40B4-BE49-F238E27FC236}">
                <a16:creationId xmlns:a16="http://schemas.microsoft.com/office/drawing/2014/main" id="{7512F4F8-A71B-4A38-A9D6-E8CDDDC58046}"/>
              </a:ext>
            </a:extLst>
          </p:cNvPr>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052988" y="1700808"/>
            <a:ext cx="3038023" cy="3024336"/>
          </a:xfrm>
          <a:prstGeom prst="rect">
            <a:avLst/>
          </a:prstGeom>
        </p:spPr>
      </p:pic>
      <p:sp>
        <p:nvSpPr>
          <p:cNvPr id="9" name="椭圆 8">
            <a:extLst>
              <a:ext uri="{FF2B5EF4-FFF2-40B4-BE49-F238E27FC236}">
                <a16:creationId xmlns:a16="http://schemas.microsoft.com/office/drawing/2014/main" id="{C5276586-13BE-425B-BA5D-63EB856CE384}"/>
              </a:ext>
            </a:extLst>
          </p:cNvPr>
          <p:cNvSpPr/>
          <p:nvPr/>
        </p:nvSpPr>
        <p:spPr>
          <a:xfrm>
            <a:off x="1115616" y="2852936"/>
            <a:ext cx="7164797" cy="91811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2"/>
                </a:solidFill>
              </a:rPr>
              <a:t>01 </a:t>
            </a:r>
            <a:r>
              <a:rPr lang="zh-CN" altLang="en-US" sz="3600" dirty="0" smtClean="0">
                <a:solidFill>
                  <a:schemeClr val="tx2"/>
                </a:solidFill>
              </a:rPr>
              <a:t>研究背景</a:t>
            </a:r>
            <a:endParaRPr lang="en-US" altLang="zh-CN" sz="3600" dirty="0" smtClean="0">
              <a:solidFill>
                <a:schemeClr val="tx2"/>
              </a:solidFill>
            </a:endParaRPr>
          </a:p>
          <a:p>
            <a:pPr algn="ctr"/>
            <a:r>
              <a:rPr lang="zh-CN" altLang="en-US" sz="3600" dirty="0" smtClean="0">
                <a:solidFill>
                  <a:schemeClr val="tx2"/>
                </a:solidFill>
              </a:rPr>
              <a:t>和内容</a:t>
            </a:r>
            <a:endParaRPr lang="zh-CN" altLang="en-US" sz="3600" dirty="0">
              <a:solidFill>
                <a:schemeClr val="tx2"/>
              </a:solidFill>
            </a:endParaRPr>
          </a:p>
        </p:txBody>
      </p:sp>
      <p:pic>
        <p:nvPicPr>
          <p:cNvPr id="10" name="Picture 3" descr="E:\融媒体\图标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9958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p:cNvCxnSpPr/>
          <p:nvPr/>
        </p:nvCxnSpPr>
        <p:spPr>
          <a:xfrm>
            <a:off x="4517638" y="5285883"/>
            <a:ext cx="14217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825857" y="5285883"/>
            <a:ext cx="14217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7209419" y="5285883"/>
            <a:ext cx="14217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4517638" y="3035607"/>
            <a:ext cx="14217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1825857" y="3035607"/>
            <a:ext cx="14217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7209419" y="3035607"/>
            <a:ext cx="14217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7" name="Oval 86"/>
          <p:cNvSpPr/>
          <p:nvPr/>
        </p:nvSpPr>
        <p:spPr>
          <a:xfrm>
            <a:off x="323528" y="1506736"/>
            <a:ext cx="555884" cy="7411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defRPr/>
            </a:pPr>
            <a:endParaRPr lang="en-US">
              <a:solidFill>
                <a:srgbClr val="FFFFFF"/>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94" name="Oval 93"/>
          <p:cNvSpPr/>
          <p:nvPr/>
        </p:nvSpPr>
        <p:spPr>
          <a:xfrm>
            <a:off x="323528" y="3873728"/>
            <a:ext cx="555884" cy="74117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defRPr/>
            </a:pPr>
            <a:endParaRPr lang="en-US">
              <a:solidFill>
                <a:srgbClr val="FFFFFF"/>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101" name="Shape 2571"/>
          <p:cNvSpPr/>
          <p:nvPr/>
        </p:nvSpPr>
        <p:spPr>
          <a:xfrm>
            <a:off x="471767" y="1689165"/>
            <a:ext cx="259406" cy="345875"/>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solidFill>
            <a:schemeClr val="bg1"/>
          </a:solidFill>
          <a:ln w="12700">
            <a:miter lim="400000"/>
          </a:ln>
        </p:spPr>
        <p:txBody>
          <a:bodyPr lIns="14284" tIns="14284" rIns="14284" bIns="14284" anchor="ctr"/>
          <a:lstStyle/>
          <a:p>
            <a:pPr defTabSz="17139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solidFill>
                <a:srgbClr val="FFFFFF"/>
              </a:solidFill>
              <a:effectLst>
                <a:outerShdw blurRad="38100" dist="12700" dir="5400000" rotWithShape="0">
                  <a:srgbClr val="000000">
                    <a:alpha val="50000"/>
                  </a:srgbClr>
                </a:outerShdw>
              </a:effectLst>
              <a:latin typeface="Calibri" panose="020F0502020204030204" pitchFamily="34" charset="0"/>
              <a:ea typeface="微软雅黑" panose="020B0503020204020204" pitchFamily="34" charset="-122"/>
              <a:sym typeface="Calibri" panose="020F0502020204030204" pitchFamily="34" charset="0"/>
            </a:endParaRPr>
          </a:p>
        </p:txBody>
      </p:sp>
      <p:sp>
        <p:nvSpPr>
          <p:cNvPr id="103" name="Shape 2785"/>
          <p:cNvSpPr/>
          <p:nvPr/>
        </p:nvSpPr>
        <p:spPr>
          <a:xfrm>
            <a:off x="496722" y="4130047"/>
            <a:ext cx="209496" cy="228541"/>
          </a:xfrm>
          <a:custGeom>
            <a:avLst/>
            <a:gdLst/>
            <a:ahLst/>
            <a:cxnLst>
              <a:cxn ang="0">
                <a:pos x="wd2" y="hd2"/>
              </a:cxn>
              <a:cxn ang="5400000">
                <a:pos x="wd2" y="hd2"/>
              </a:cxn>
              <a:cxn ang="10800000">
                <a:pos x="wd2" y="hd2"/>
              </a:cxn>
              <a:cxn ang="16200000">
                <a:pos x="wd2" y="hd2"/>
              </a:cxn>
            </a:cxnLst>
            <a:rect l="0" t="0" r="r" b="b"/>
            <a:pathLst>
              <a:path w="21600" h="21600" extrusionOk="0">
                <a:moveTo>
                  <a:pt x="16691" y="20400"/>
                </a:moveTo>
                <a:cubicBezTo>
                  <a:pt x="14522" y="20400"/>
                  <a:pt x="12764" y="18251"/>
                  <a:pt x="12764" y="15600"/>
                </a:cubicBezTo>
                <a:cubicBezTo>
                  <a:pt x="12764" y="12949"/>
                  <a:pt x="14522" y="10800"/>
                  <a:pt x="16691" y="10800"/>
                </a:cubicBezTo>
                <a:cubicBezTo>
                  <a:pt x="18860" y="10800"/>
                  <a:pt x="20618" y="12949"/>
                  <a:pt x="20618" y="15600"/>
                </a:cubicBezTo>
                <a:cubicBezTo>
                  <a:pt x="20618" y="18251"/>
                  <a:pt x="18860" y="20400"/>
                  <a:pt x="16691" y="20400"/>
                </a:cubicBezTo>
                <a:moveTo>
                  <a:pt x="12762" y="3393"/>
                </a:moveTo>
                <a:lnTo>
                  <a:pt x="12781" y="3388"/>
                </a:lnTo>
                <a:cubicBezTo>
                  <a:pt x="12870" y="2164"/>
                  <a:pt x="13702" y="1200"/>
                  <a:pt x="14727" y="1200"/>
                </a:cubicBezTo>
                <a:cubicBezTo>
                  <a:pt x="15521" y="1200"/>
                  <a:pt x="16202" y="1779"/>
                  <a:pt x="16511" y="2609"/>
                </a:cubicBezTo>
                <a:lnTo>
                  <a:pt x="16509" y="2609"/>
                </a:lnTo>
                <a:lnTo>
                  <a:pt x="19162" y="10421"/>
                </a:lnTo>
                <a:cubicBezTo>
                  <a:pt x="18436" y="9902"/>
                  <a:pt x="17593" y="9600"/>
                  <a:pt x="16691" y="9600"/>
                </a:cubicBezTo>
                <a:cubicBezTo>
                  <a:pt x="15082" y="9600"/>
                  <a:pt x="13658" y="10550"/>
                  <a:pt x="12763" y="12012"/>
                </a:cubicBezTo>
                <a:cubicBezTo>
                  <a:pt x="12763" y="12012"/>
                  <a:pt x="12762" y="3393"/>
                  <a:pt x="12762" y="3393"/>
                </a:cubicBezTo>
                <a:close/>
                <a:moveTo>
                  <a:pt x="11782" y="13200"/>
                </a:moveTo>
                <a:lnTo>
                  <a:pt x="9818" y="13200"/>
                </a:lnTo>
                <a:lnTo>
                  <a:pt x="9818" y="4800"/>
                </a:lnTo>
                <a:lnTo>
                  <a:pt x="11782" y="4800"/>
                </a:lnTo>
                <a:cubicBezTo>
                  <a:pt x="11782" y="4800"/>
                  <a:pt x="11782" y="13200"/>
                  <a:pt x="11782" y="13200"/>
                </a:cubicBezTo>
                <a:close/>
                <a:moveTo>
                  <a:pt x="11782" y="15600"/>
                </a:moveTo>
                <a:lnTo>
                  <a:pt x="9818" y="15600"/>
                </a:lnTo>
                <a:lnTo>
                  <a:pt x="9818" y="14400"/>
                </a:lnTo>
                <a:lnTo>
                  <a:pt x="11782" y="14400"/>
                </a:lnTo>
                <a:cubicBezTo>
                  <a:pt x="11782" y="14400"/>
                  <a:pt x="11782" y="15600"/>
                  <a:pt x="11782" y="15600"/>
                </a:cubicBezTo>
                <a:close/>
                <a:moveTo>
                  <a:pt x="8837" y="12012"/>
                </a:moveTo>
                <a:cubicBezTo>
                  <a:pt x="7942" y="10550"/>
                  <a:pt x="6518" y="9600"/>
                  <a:pt x="4909" y="9600"/>
                </a:cubicBezTo>
                <a:cubicBezTo>
                  <a:pt x="4007" y="9600"/>
                  <a:pt x="3164" y="9902"/>
                  <a:pt x="2438" y="10421"/>
                </a:cubicBezTo>
                <a:lnTo>
                  <a:pt x="5091" y="2609"/>
                </a:lnTo>
                <a:lnTo>
                  <a:pt x="5089" y="2609"/>
                </a:lnTo>
                <a:cubicBezTo>
                  <a:pt x="5398" y="1779"/>
                  <a:pt x="6079" y="1200"/>
                  <a:pt x="6873" y="1200"/>
                </a:cubicBezTo>
                <a:cubicBezTo>
                  <a:pt x="7898" y="1200"/>
                  <a:pt x="8730" y="2164"/>
                  <a:pt x="8819" y="3388"/>
                </a:cubicBezTo>
                <a:lnTo>
                  <a:pt x="8838" y="3393"/>
                </a:lnTo>
                <a:cubicBezTo>
                  <a:pt x="8838" y="3393"/>
                  <a:pt x="8837" y="12012"/>
                  <a:pt x="8837" y="12012"/>
                </a:cubicBezTo>
                <a:close/>
                <a:moveTo>
                  <a:pt x="4909" y="20400"/>
                </a:moveTo>
                <a:cubicBezTo>
                  <a:pt x="2740" y="20400"/>
                  <a:pt x="982" y="18251"/>
                  <a:pt x="982" y="15600"/>
                </a:cubicBezTo>
                <a:cubicBezTo>
                  <a:pt x="982" y="12949"/>
                  <a:pt x="2740" y="10800"/>
                  <a:pt x="4909" y="10800"/>
                </a:cubicBezTo>
                <a:cubicBezTo>
                  <a:pt x="7078" y="10800"/>
                  <a:pt x="8836" y="12949"/>
                  <a:pt x="8836" y="15600"/>
                </a:cubicBezTo>
                <a:cubicBezTo>
                  <a:pt x="8836" y="18251"/>
                  <a:pt x="7078" y="20400"/>
                  <a:pt x="4909" y="20400"/>
                </a:cubicBezTo>
                <a:moveTo>
                  <a:pt x="21102" y="12980"/>
                </a:moveTo>
                <a:lnTo>
                  <a:pt x="17504" y="2400"/>
                </a:lnTo>
                <a:lnTo>
                  <a:pt x="17493" y="2402"/>
                </a:lnTo>
                <a:cubicBezTo>
                  <a:pt x="17088" y="1006"/>
                  <a:pt x="16009" y="0"/>
                  <a:pt x="14727" y="0"/>
                </a:cubicBezTo>
                <a:cubicBezTo>
                  <a:pt x="13101" y="0"/>
                  <a:pt x="11782" y="1612"/>
                  <a:pt x="11782" y="3600"/>
                </a:cubicBezTo>
                <a:lnTo>
                  <a:pt x="9818" y="3600"/>
                </a:lnTo>
                <a:cubicBezTo>
                  <a:pt x="9818" y="1612"/>
                  <a:pt x="8499" y="0"/>
                  <a:pt x="6873" y="0"/>
                </a:cubicBezTo>
                <a:cubicBezTo>
                  <a:pt x="5592" y="0"/>
                  <a:pt x="4512" y="1006"/>
                  <a:pt x="4107" y="2402"/>
                </a:cubicBezTo>
                <a:lnTo>
                  <a:pt x="4096" y="2400"/>
                </a:lnTo>
                <a:lnTo>
                  <a:pt x="498" y="12980"/>
                </a:lnTo>
                <a:cubicBezTo>
                  <a:pt x="182" y="13772"/>
                  <a:pt x="0" y="14659"/>
                  <a:pt x="0" y="15600"/>
                </a:cubicBezTo>
                <a:cubicBezTo>
                  <a:pt x="0" y="18914"/>
                  <a:pt x="2198" y="21600"/>
                  <a:pt x="4909" y="21600"/>
                </a:cubicBezTo>
                <a:cubicBezTo>
                  <a:pt x="7284" y="21600"/>
                  <a:pt x="9265" y="19539"/>
                  <a:pt x="9719" y="16800"/>
                </a:cubicBezTo>
                <a:lnTo>
                  <a:pt x="11881" y="16800"/>
                </a:lnTo>
                <a:cubicBezTo>
                  <a:pt x="12335" y="19539"/>
                  <a:pt x="14316" y="21600"/>
                  <a:pt x="16691" y="21600"/>
                </a:cubicBezTo>
                <a:cubicBezTo>
                  <a:pt x="19402" y="21600"/>
                  <a:pt x="21600" y="18914"/>
                  <a:pt x="21600" y="15600"/>
                </a:cubicBezTo>
                <a:cubicBezTo>
                  <a:pt x="21600" y="14659"/>
                  <a:pt x="21418" y="13772"/>
                  <a:pt x="21102" y="12980"/>
                </a:cubicBezTo>
                <a:moveTo>
                  <a:pt x="16691" y="12000"/>
                </a:moveTo>
                <a:cubicBezTo>
                  <a:pt x="15064" y="12000"/>
                  <a:pt x="13745" y="13612"/>
                  <a:pt x="13745" y="15600"/>
                </a:cubicBezTo>
                <a:cubicBezTo>
                  <a:pt x="13745" y="15932"/>
                  <a:pt x="13965" y="16200"/>
                  <a:pt x="14236" y="16200"/>
                </a:cubicBezTo>
                <a:cubicBezTo>
                  <a:pt x="14508" y="16200"/>
                  <a:pt x="14727" y="15932"/>
                  <a:pt x="14727" y="15600"/>
                </a:cubicBezTo>
                <a:cubicBezTo>
                  <a:pt x="14727" y="14275"/>
                  <a:pt x="15606" y="13200"/>
                  <a:pt x="16691" y="13200"/>
                </a:cubicBezTo>
                <a:cubicBezTo>
                  <a:pt x="16962" y="13200"/>
                  <a:pt x="17182" y="12932"/>
                  <a:pt x="17182" y="12600"/>
                </a:cubicBezTo>
                <a:cubicBezTo>
                  <a:pt x="17182" y="12268"/>
                  <a:pt x="16962" y="12000"/>
                  <a:pt x="16691" y="12000"/>
                </a:cubicBezTo>
                <a:moveTo>
                  <a:pt x="4909" y="12000"/>
                </a:moveTo>
                <a:cubicBezTo>
                  <a:pt x="3282" y="12000"/>
                  <a:pt x="1964" y="13612"/>
                  <a:pt x="1964" y="15600"/>
                </a:cubicBezTo>
                <a:cubicBezTo>
                  <a:pt x="1964" y="15932"/>
                  <a:pt x="2183" y="16200"/>
                  <a:pt x="2455" y="16200"/>
                </a:cubicBezTo>
                <a:cubicBezTo>
                  <a:pt x="2726" y="16200"/>
                  <a:pt x="2945" y="15932"/>
                  <a:pt x="2945" y="15600"/>
                </a:cubicBezTo>
                <a:cubicBezTo>
                  <a:pt x="2945" y="14275"/>
                  <a:pt x="3825" y="13200"/>
                  <a:pt x="4909" y="13200"/>
                </a:cubicBezTo>
                <a:cubicBezTo>
                  <a:pt x="5180" y="13200"/>
                  <a:pt x="5400" y="12932"/>
                  <a:pt x="5400" y="12600"/>
                </a:cubicBezTo>
                <a:cubicBezTo>
                  <a:pt x="5400" y="12268"/>
                  <a:pt x="5180" y="12000"/>
                  <a:pt x="4909" y="12000"/>
                </a:cubicBezTo>
              </a:path>
            </a:pathLst>
          </a:custGeom>
          <a:solidFill>
            <a:schemeClr val="bg1"/>
          </a:solidFill>
          <a:ln w="12700">
            <a:miter lim="400000"/>
          </a:ln>
        </p:spPr>
        <p:txBody>
          <a:bodyPr lIns="14284" tIns="14284" rIns="14284" bIns="14284" anchor="ctr"/>
          <a:lstStyle/>
          <a:p>
            <a:pPr defTabSz="17139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solidFill>
                <a:srgbClr val="FFFFFF"/>
              </a:solidFill>
              <a:effectLst>
                <a:outerShdw blurRad="38100" dist="12700" dir="5400000" rotWithShape="0">
                  <a:srgbClr val="000000">
                    <a:alpha val="50000"/>
                  </a:srgbClr>
                </a:outerShdw>
              </a:effectLst>
              <a:latin typeface="Calibri" panose="020F0502020204030204" pitchFamily="34" charset="0"/>
              <a:ea typeface="微软雅黑" panose="020B0503020204020204" pitchFamily="34" charset="-122"/>
              <a:sym typeface="Calibri" panose="020F0502020204030204" pitchFamily="34" charset="0"/>
            </a:endParaRPr>
          </a:p>
        </p:txBody>
      </p:sp>
      <p:sp>
        <p:nvSpPr>
          <p:cNvPr id="35" name="TextBox 9">
            <a:extLst>
              <a:ext uri="{FF2B5EF4-FFF2-40B4-BE49-F238E27FC236}">
                <a16:creationId xmlns:a16="http://schemas.microsoft.com/office/drawing/2014/main" id="{E0B1F243-186C-404B-A5FB-4BF7B9817DE9}"/>
              </a:ext>
            </a:extLst>
          </p:cNvPr>
          <p:cNvSpPr txBox="1"/>
          <p:nvPr/>
        </p:nvSpPr>
        <p:spPr>
          <a:xfrm>
            <a:off x="3707720" y="1124744"/>
            <a:ext cx="1569660" cy="461665"/>
          </a:xfrm>
          <a:prstGeom prst="rect">
            <a:avLst/>
          </a:prstGeom>
          <a:noFill/>
        </p:spPr>
        <p:txBody>
          <a:bodyPr wrap="none" rtlCol="0">
            <a:spAutoFit/>
          </a:bodyPr>
          <a:lstStyle/>
          <a:p>
            <a:pPr algn="ctr" defTabSz="685663">
              <a:defRPr/>
            </a:pPr>
            <a:r>
              <a:rPr lang="zh-CN" altLang="en-US" sz="2400" b="1" spc="300" dirty="0" smtClean="0">
                <a:solidFill>
                  <a:srgbClr val="000000"/>
                </a:solidFill>
                <a:latin typeface="Calibri" panose="020F0502020204030204" pitchFamily="34" charset="0"/>
                <a:ea typeface="微软雅黑" panose="020B0503020204020204" pitchFamily="34" charset="-122"/>
                <a:cs typeface="Lato Black" charset="0"/>
                <a:sym typeface="Calibri" panose="020F0502020204030204" pitchFamily="34" charset="0"/>
              </a:rPr>
              <a:t>研究背景</a:t>
            </a:r>
            <a:endParaRPr lang="en-US" sz="2400" b="1" spc="300" dirty="0">
              <a:solidFill>
                <a:srgbClr val="000000"/>
              </a:solidFill>
              <a:latin typeface="Calibri" panose="020F0502020204030204" pitchFamily="34" charset="0"/>
              <a:ea typeface="微软雅黑" panose="020B0503020204020204" pitchFamily="34" charset="-122"/>
              <a:cs typeface="Lato Black" charset="0"/>
              <a:sym typeface="Calibri" panose="020F0502020204030204" pitchFamily="34" charset="0"/>
            </a:endParaRPr>
          </a:p>
        </p:txBody>
      </p:sp>
      <p:sp>
        <p:nvSpPr>
          <p:cNvPr id="39" name="矩形 38"/>
          <p:cNvSpPr/>
          <p:nvPr/>
        </p:nvSpPr>
        <p:spPr>
          <a:xfrm>
            <a:off x="0" y="0"/>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4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sp>
        <p:nvSpPr>
          <p:cNvPr id="43" name="矩形 42"/>
          <p:cNvSpPr/>
          <p:nvPr/>
        </p:nvSpPr>
        <p:spPr>
          <a:xfrm>
            <a:off x="624062" y="2217469"/>
            <a:ext cx="7929329" cy="1892826"/>
          </a:xfrm>
          <a:prstGeom prst="rect">
            <a:avLst/>
          </a:prstGeom>
        </p:spPr>
        <p:txBody>
          <a:bodyPr wrap="square">
            <a:spAutoFit/>
          </a:bodyPr>
          <a:lstStyle/>
          <a:p>
            <a:pPr indent="457200" algn="just"/>
            <a:r>
              <a:rPr lang="zh-CN" altLang="zh-CN" dirty="0"/>
              <a:t>在</a:t>
            </a:r>
            <a:r>
              <a:rPr lang="zh-CN" altLang="zh-CN" dirty="0">
                <a:solidFill>
                  <a:srgbClr val="FF0000"/>
                </a:solidFill>
              </a:rPr>
              <a:t>传统的网络通信</a:t>
            </a:r>
            <a:r>
              <a:rPr lang="zh-CN" altLang="zh-CN" dirty="0"/>
              <a:t>中，网络的中间节点（除了信源节点和信宿节点以外的节点）只负责中继数据，也就是存储转发，而不会对数据进行额外操作。比如常见的交换机和路由器在通信过程中只负责数据包的存储和转发，并不会对数据进行其他处理。</a:t>
            </a:r>
            <a:endParaRPr lang="zh-CN" altLang="en-US" b="1" kern="0" dirty="0">
              <a:solidFill>
                <a:schemeClr val="tx2">
                  <a:lumMod val="50000"/>
                </a:schemeClr>
              </a:solidFill>
              <a:latin typeface="微软雅黑" panose="020B0503020204020204" pitchFamily="34" charset="-122"/>
              <a:sym typeface="方正兰亭细黑_GBK" charset="-122"/>
            </a:endParaRPr>
          </a:p>
          <a:p>
            <a:pPr algn="ctr"/>
            <a:endParaRPr lang="en-US" altLang="zh-CN" dirty="0">
              <a:solidFill>
                <a:schemeClr val="tx2">
                  <a:lumMod val="50000"/>
                </a:schemeClr>
              </a:solidFill>
            </a:endParaRPr>
          </a:p>
          <a:p>
            <a:pPr lvl="0" algn="r">
              <a:lnSpc>
                <a:spcPct val="150000"/>
              </a:lnSpc>
              <a:defRPr/>
            </a:pPr>
            <a:endParaRPr lang="zh-CN" altLang="en-US" b="1" kern="0" dirty="0">
              <a:solidFill>
                <a:schemeClr val="tx2">
                  <a:lumMod val="50000"/>
                </a:schemeClr>
              </a:solidFill>
              <a:latin typeface="微软雅黑" panose="020B0503020204020204" pitchFamily="34" charset="-122"/>
              <a:sym typeface="方正兰亭细黑_GBK" charset="-122"/>
            </a:endParaRPr>
          </a:p>
        </p:txBody>
      </p:sp>
      <p:sp>
        <p:nvSpPr>
          <p:cNvPr id="50" name="矩形 49"/>
          <p:cNvSpPr/>
          <p:nvPr/>
        </p:nvSpPr>
        <p:spPr>
          <a:xfrm>
            <a:off x="732621" y="4621151"/>
            <a:ext cx="7854390" cy="1615827"/>
          </a:xfrm>
          <a:prstGeom prst="rect">
            <a:avLst/>
          </a:prstGeom>
        </p:spPr>
        <p:txBody>
          <a:bodyPr wrap="square">
            <a:spAutoFit/>
          </a:bodyPr>
          <a:lstStyle/>
          <a:p>
            <a:pPr indent="457200" algn="just"/>
            <a:r>
              <a:rPr lang="en-US" altLang="zh-CN" dirty="0"/>
              <a:t>2000</a:t>
            </a:r>
            <a:r>
              <a:rPr lang="zh-CN" altLang="zh-CN" dirty="0"/>
              <a:t>年，</a:t>
            </a:r>
            <a:r>
              <a:rPr lang="en-US" altLang="zh-CN" dirty="0"/>
              <a:t>Ahlswede</a:t>
            </a:r>
            <a:r>
              <a:rPr lang="zh-CN" altLang="zh-CN" dirty="0"/>
              <a:t>等人提出的网络</a:t>
            </a:r>
            <a:r>
              <a:rPr lang="zh-CN" altLang="zh-CN" dirty="0" smtClean="0"/>
              <a:t>编码理论</a:t>
            </a:r>
            <a:r>
              <a:rPr lang="zh-CN" altLang="en-US" dirty="0" smtClean="0"/>
              <a:t>改变了“</a:t>
            </a:r>
            <a:r>
              <a:rPr lang="zh-CN" altLang="zh-CN" dirty="0"/>
              <a:t>中间节点的数据操作不会提升网络的整体性能</a:t>
            </a:r>
            <a:r>
              <a:rPr lang="zh-CN" altLang="en-US" dirty="0" smtClean="0"/>
              <a:t>”这一观点。网络编码目前已被证明可以</a:t>
            </a:r>
            <a:r>
              <a:rPr lang="zh-CN" altLang="zh-CN" dirty="0">
                <a:solidFill>
                  <a:srgbClr val="FF0000"/>
                </a:solidFill>
              </a:rPr>
              <a:t>提升网络的整体性</a:t>
            </a:r>
            <a:r>
              <a:rPr lang="zh-CN" altLang="zh-CN" dirty="0" smtClean="0">
                <a:solidFill>
                  <a:srgbClr val="FF0000"/>
                </a:solidFill>
              </a:rPr>
              <a:t>能</a:t>
            </a:r>
            <a:r>
              <a:rPr lang="zh-CN" altLang="en-US" dirty="0" smtClean="0"/>
              <a:t>，例如</a:t>
            </a:r>
            <a:r>
              <a:rPr lang="zh-CN" altLang="zh-CN" dirty="0" smtClean="0"/>
              <a:t>提高</a:t>
            </a:r>
            <a:r>
              <a:rPr lang="zh-CN" altLang="zh-CN" dirty="0"/>
              <a:t>网络吞吐量、降低能量消耗</a:t>
            </a:r>
            <a:r>
              <a:rPr lang="zh-CN" altLang="zh-CN" dirty="0" smtClean="0"/>
              <a:t>等</a:t>
            </a:r>
            <a:r>
              <a:rPr lang="zh-CN" altLang="en-US" dirty="0" smtClean="0"/>
              <a:t>。</a:t>
            </a:r>
            <a:endParaRPr lang="zh-CN" altLang="en-US" b="1" kern="0" dirty="0">
              <a:solidFill>
                <a:schemeClr val="tx2">
                  <a:lumMod val="50000"/>
                </a:schemeClr>
              </a:solidFill>
              <a:latin typeface="微软雅黑" panose="020B0503020204020204" pitchFamily="34" charset="-122"/>
              <a:sym typeface="方正兰亭细黑_GBK" charset="-122"/>
            </a:endParaRPr>
          </a:p>
          <a:p>
            <a:pPr algn="ctr"/>
            <a:endParaRPr lang="en-US" altLang="zh-CN" dirty="0">
              <a:solidFill>
                <a:schemeClr val="tx2">
                  <a:lumMod val="50000"/>
                </a:schemeClr>
              </a:solidFill>
            </a:endParaRPr>
          </a:p>
          <a:p>
            <a:pPr lvl="0" algn="r">
              <a:lnSpc>
                <a:spcPct val="150000"/>
              </a:lnSpc>
              <a:defRPr/>
            </a:pPr>
            <a:endParaRPr lang="zh-CN" altLang="en-US" b="1" kern="0" dirty="0">
              <a:solidFill>
                <a:schemeClr val="tx2">
                  <a:lumMod val="50000"/>
                </a:schemeClr>
              </a:solidFill>
              <a:latin typeface="微软雅黑" panose="020B0503020204020204" pitchFamily="34" charset="-122"/>
              <a:sym typeface="方正兰亭细黑_GBK" charset="-122"/>
            </a:endParaRPr>
          </a:p>
        </p:txBody>
      </p:sp>
      <p:pic>
        <p:nvPicPr>
          <p:cNvPr id="29"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30" name="图片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Tree>
    <p:extLst>
      <p:ext uri="{BB962C8B-B14F-4D97-AF65-F5344CB8AC3E}">
        <p14:creationId xmlns:p14="http://schemas.microsoft.com/office/powerpoint/2010/main" val="417869154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ppt_w</p:attrName>
                                        </p:attrNameLst>
                                      </p:cBhvr>
                                      <p:tavLst>
                                        <p:tav tm="0">
                                          <p:val>
                                            <p:fltVal val="0"/>
                                          </p:val>
                                        </p:tav>
                                        <p:tav tm="100000">
                                          <p:val>
                                            <p:strVal val="#ppt_w"/>
                                          </p:val>
                                        </p:tav>
                                      </p:tavLst>
                                    </p:anim>
                                    <p:anim calcmode="lin" valueType="num">
                                      <p:cBhvr>
                                        <p:cTn id="8" dur="500" fill="hold"/>
                                        <p:tgtEl>
                                          <p:spTgt spid="43"/>
                                        </p:tgtEl>
                                        <p:attrNameLst>
                                          <p:attrName>ppt_h</p:attrName>
                                        </p:attrNameLst>
                                      </p:cBhvr>
                                      <p:tavLst>
                                        <p:tav tm="0">
                                          <p:val>
                                            <p:fltVal val="0"/>
                                          </p:val>
                                        </p:tav>
                                        <p:tav tm="100000">
                                          <p:val>
                                            <p:strVal val="#ppt_h"/>
                                          </p:val>
                                        </p:tav>
                                      </p:tavLst>
                                    </p:anim>
                                    <p:animEffect transition="in" filter="fade">
                                      <p:cBhvr>
                                        <p:cTn id="9" dur="500"/>
                                        <p:tgtEl>
                                          <p:spTgt spid="4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0"/>
                                        </p:tgtEl>
                                        <p:attrNameLst>
                                          <p:attrName>style.visibility</p:attrName>
                                        </p:attrNameLst>
                                      </p:cBhvr>
                                      <p:to>
                                        <p:strVal val="visible"/>
                                      </p:to>
                                    </p:set>
                                    <p:anim calcmode="lin" valueType="num">
                                      <p:cBhvr>
                                        <p:cTn id="12" dur="500" fill="hold"/>
                                        <p:tgtEl>
                                          <p:spTgt spid="50"/>
                                        </p:tgtEl>
                                        <p:attrNameLst>
                                          <p:attrName>ppt_w</p:attrName>
                                        </p:attrNameLst>
                                      </p:cBhvr>
                                      <p:tavLst>
                                        <p:tav tm="0">
                                          <p:val>
                                            <p:fltVal val="0"/>
                                          </p:val>
                                        </p:tav>
                                        <p:tav tm="100000">
                                          <p:val>
                                            <p:strVal val="#ppt_w"/>
                                          </p:val>
                                        </p:tav>
                                      </p:tavLst>
                                    </p:anim>
                                    <p:anim calcmode="lin" valueType="num">
                                      <p:cBhvr>
                                        <p:cTn id="13" dur="500" fill="hold"/>
                                        <p:tgtEl>
                                          <p:spTgt spid="50"/>
                                        </p:tgtEl>
                                        <p:attrNameLst>
                                          <p:attrName>ppt_h</p:attrName>
                                        </p:attrNameLst>
                                      </p:cBhvr>
                                      <p:tavLst>
                                        <p:tav tm="0">
                                          <p:val>
                                            <p:fltVal val="0"/>
                                          </p:val>
                                        </p:tav>
                                        <p:tav tm="100000">
                                          <p:val>
                                            <p:strVal val="#ppt_h"/>
                                          </p:val>
                                        </p:tav>
                                      </p:tavLst>
                                    </p:anim>
                                    <p:animEffect transition="in" filter="fade">
                                      <p:cBhvr>
                                        <p:cTn id="1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5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937144"/>
            <a:ext cx="2483768" cy="1538193"/>
          </a:xfrm>
          <a:prstGeom prst="rect">
            <a:avLst/>
          </a:prstGeom>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46758" y="5445223"/>
            <a:ext cx="2497242" cy="1412489"/>
          </a:xfrm>
          <a:prstGeom prst="rect">
            <a:avLst/>
          </a:prstGeom>
        </p:spPr>
      </p:pic>
      <p:sp>
        <p:nvSpPr>
          <p:cNvPr id="8" name="Rectangle 37"/>
          <p:cNvSpPr/>
          <p:nvPr/>
        </p:nvSpPr>
        <p:spPr>
          <a:xfrm>
            <a:off x="2645786" y="1871068"/>
            <a:ext cx="3852428" cy="4104079"/>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defRPr/>
            </a:pPr>
            <a:endParaRPr lang="en-US">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9" name="TextBox 8"/>
          <p:cNvSpPr txBox="1"/>
          <p:nvPr/>
        </p:nvSpPr>
        <p:spPr>
          <a:xfrm>
            <a:off x="2717794" y="2824400"/>
            <a:ext cx="3708412" cy="3693319"/>
          </a:xfrm>
          <a:prstGeom prst="rect">
            <a:avLst/>
          </a:prstGeom>
          <a:noFill/>
          <a:ln>
            <a:noFill/>
            <a:prstDash val="sysDot"/>
          </a:ln>
        </p:spPr>
        <p:txBody>
          <a:bodyPr wrap="square" rtlCol="0">
            <a:spAutoFit/>
          </a:bodyPr>
          <a:lstStyle/>
          <a:p>
            <a:pPr indent="457200" algn="just"/>
            <a:r>
              <a:rPr lang="zh-CN" altLang="en-US" dirty="0" smtClean="0"/>
              <a:t>编码的本质是对数据进行加减乘除</a:t>
            </a:r>
            <a:r>
              <a:rPr lang="zh-CN" altLang="en-US" dirty="0"/>
              <a:t>操作</a:t>
            </a:r>
            <a:r>
              <a:rPr lang="zh-CN" altLang="en-US" dirty="0" smtClean="0"/>
              <a:t>，而这些操作</a:t>
            </a:r>
            <a:r>
              <a:rPr lang="zh-CN" altLang="en-US" dirty="0"/>
              <a:t>基本都是基于有限域的</a:t>
            </a:r>
            <a:r>
              <a:rPr lang="zh-CN" altLang="en-US" dirty="0" smtClean="0"/>
              <a:t>。</a:t>
            </a:r>
            <a:endParaRPr lang="en-US" altLang="zh-CN" dirty="0" smtClean="0"/>
          </a:p>
          <a:p>
            <a:pPr indent="457200"/>
            <a:endParaRPr lang="en-US" altLang="zh-CN" dirty="0" smtClean="0"/>
          </a:p>
          <a:p>
            <a:pPr indent="457200" algn="just"/>
            <a:r>
              <a:rPr lang="zh-CN" altLang="en-US" dirty="0" smtClean="0"/>
              <a:t>所以本毕业设计的研究内容是如何设计出能够在</a:t>
            </a:r>
            <a:r>
              <a:rPr lang="en-US" altLang="zh-CN" dirty="0" smtClean="0"/>
              <a:t>GF(2</a:t>
            </a:r>
            <a:r>
              <a:rPr lang="en-US" altLang="zh-CN" baseline="30000" dirty="0" smtClean="0"/>
              <a:t>n</a:t>
            </a:r>
            <a:r>
              <a:rPr lang="en-US" altLang="zh-CN" dirty="0" smtClean="0"/>
              <a:t>)</a:t>
            </a:r>
            <a:r>
              <a:rPr lang="zh-CN" altLang="en-US" dirty="0"/>
              <a:t>型有限域下进行高效</a:t>
            </a:r>
            <a:r>
              <a:rPr lang="zh-CN" altLang="en-US" dirty="0" smtClean="0"/>
              <a:t>运算的运算库，</a:t>
            </a:r>
            <a:r>
              <a:rPr lang="zh-CN" altLang="en-US" dirty="0"/>
              <a:t>并能够根据实际通信场景、网络设备情况选择合适的有限域运算库。</a:t>
            </a:r>
            <a:endParaRPr lang="en-US" altLang="zh-CN" dirty="0" smtClean="0"/>
          </a:p>
          <a:p>
            <a:endParaRPr lang="en-US" altLang="zh-CN" dirty="0" smtClean="0"/>
          </a:p>
          <a:p>
            <a:endParaRPr lang="en-US" altLang="zh-CN" dirty="0"/>
          </a:p>
          <a:p>
            <a:endParaRPr lang="zh-CN" altLang="en-US" dirty="0">
              <a:latin typeface="微软雅黑" pitchFamily="34" charset="-122"/>
            </a:endParaRPr>
          </a:p>
          <a:p>
            <a:endParaRPr lang="zh-CN" altLang="en-US" dirty="0"/>
          </a:p>
        </p:txBody>
      </p:sp>
      <p:pic>
        <p:nvPicPr>
          <p:cNvPr id="10" name="Picture 3" descr="E:\融媒体\图标8.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9">
            <a:extLst>
              <a:ext uri="{FF2B5EF4-FFF2-40B4-BE49-F238E27FC236}">
                <a16:creationId xmlns:a16="http://schemas.microsoft.com/office/drawing/2014/main" id="{E0B1F243-186C-404B-A5FB-4BF7B9817DE9}"/>
              </a:ext>
            </a:extLst>
          </p:cNvPr>
          <p:cNvSpPr txBox="1"/>
          <p:nvPr/>
        </p:nvSpPr>
        <p:spPr>
          <a:xfrm>
            <a:off x="3787170" y="2142979"/>
            <a:ext cx="1569660" cy="461665"/>
          </a:xfrm>
          <a:prstGeom prst="rect">
            <a:avLst/>
          </a:prstGeom>
          <a:noFill/>
        </p:spPr>
        <p:txBody>
          <a:bodyPr wrap="none" rtlCol="0">
            <a:spAutoFit/>
          </a:bodyPr>
          <a:lstStyle/>
          <a:p>
            <a:pPr marL="0" marR="0" lvl="0" indent="0" algn="ctr" defTabSz="685663"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300" normalizeH="0" baseline="0" noProof="0" dirty="0" smtClean="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rPr>
              <a:t>研究内容</a:t>
            </a:r>
            <a:endParaRPr kumimoji="0" lang="en-US" sz="2400" b="1" i="0" u="none" strike="noStrike" kern="1200" cap="none" spc="300" normalizeH="0" baseline="0" noProof="0" dirty="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endParaRPr>
          </a:p>
        </p:txBody>
      </p:sp>
    </p:spTree>
    <p:extLst>
      <p:ext uri="{BB962C8B-B14F-4D97-AF65-F5344CB8AC3E}">
        <p14:creationId xmlns:p14="http://schemas.microsoft.com/office/powerpoint/2010/main" val="76099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2279"/>
            <a:ext cx="9144000" cy="945214"/>
            <a:chOff x="0" y="-22279"/>
            <a:chExt cx="9144000" cy="945214"/>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gr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8" name="图片 7">
            <a:extLst>
              <a:ext uri="{FF2B5EF4-FFF2-40B4-BE49-F238E27FC236}">
                <a16:creationId xmlns:a16="http://schemas.microsoft.com/office/drawing/2014/main" id="{7512F4F8-A71B-4A38-A9D6-E8CDDDC58046}"/>
              </a:ext>
            </a:extLst>
          </p:cNvPr>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059832" y="1700808"/>
            <a:ext cx="3038023" cy="3024336"/>
          </a:xfrm>
          <a:prstGeom prst="rect">
            <a:avLst/>
          </a:prstGeom>
        </p:spPr>
      </p:pic>
      <p:sp>
        <p:nvSpPr>
          <p:cNvPr id="9" name="椭圆 8">
            <a:extLst>
              <a:ext uri="{FF2B5EF4-FFF2-40B4-BE49-F238E27FC236}">
                <a16:creationId xmlns:a16="http://schemas.microsoft.com/office/drawing/2014/main" id="{C5276586-13BE-425B-BA5D-63EB856CE384}"/>
              </a:ext>
            </a:extLst>
          </p:cNvPr>
          <p:cNvSpPr/>
          <p:nvPr/>
        </p:nvSpPr>
        <p:spPr>
          <a:xfrm>
            <a:off x="3203848" y="2780928"/>
            <a:ext cx="3168352" cy="113414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smtClean="0">
                <a:solidFill>
                  <a:schemeClr val="tx2"/>
                </a:solidFill>
              </a:rPr>
              <a:t>02 </a:t>
            </a:r>
            <a:r>
              <a:rPr lang="zh-CN" altLang="en-US" sz="4400" dirty="0" smtClean="0">
                <a:solidFill>
                  <a:schemeClr val="tx2"/>
                </a:solidFill>
              </a:rPr>
              <a:t>理论基础</a:t>
            </a:r>
            <a:r>
              <a:rPr lang="en-US" altLang="zh-CN" sz="4400" dirty="0" smtClean="0">
                <a:solidFill>
                  <a:schemeClr val="tx2"/>
                </a:solidFill>
              </a:rPr>
              <a:t> </a:t>
            </a:r>
            <a:endParaRPr lang="zh-CN" altLang="en-US" sz="4400" dirty="0">
              <a:solidFill>
                <a:schemeClr val="tx2"/>
              </a:solidFill>
            </a:endParaRPr>
          </a:p>
        </p:txBody>
      </p:sp>
      <p:pic>
        <p:nvPicPr>
          <p:cNvPr id="10" name="Picture 3" descr="E:\融媒体\图标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7200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
        <p:nvSpPr>
          <p:cNvPr id="8" name="Hexagon 62"/>
          <p:cNvSpPr/>
          <p:nvPr/>
        </p:nvSpPr>
        <p:spPr>
          <a:xfrm rot="5400000">
            <a:off x="727432" y="1141660"/>
            <a:ext cx="1581870" cy="1363682"/>
          </a:xfrm>
          <a:prstGeom prst="hexag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defRPr/>
            </a:pPr>
            <a:endParaRPr lang="en-US">
              <a:solidFill>
                <a:srgbClr val="FFFFFF"/>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13" name="Shape 2782">
            <a:extLst>
              <a:ext uri="{FF2B5EF4-FFF2-40B4-BE49-F238E27FC236}">
                <a16:creationId xmlns:a16="http://schemas.microsoft.com/office/drawing/2014/main" id="{2D7A61C8-1425-4EA1-BED5-595B6A5D0075}"/>
              </a:ext>
            </a:extLst>
          </p:cNvPr>
          <p:cNvSpPr/>
          <p:nvPr/>
        </p:nvSpPr>
        <p:spPr>
          <a:xfrm>
            <a:off x="1237550" y="1612291"/>
            <a:ext cx="561634" cy="496403"/>
          </a:xfrm>
          <a:custGeom>
            <a:avLst/>
            <a:gdLst/>
            <a:ahLst/>
            <a:cxnLst>
              <a:cxn ang="0">
                <a:pos x="wd2" y="hd2"/>
              </a:cxn>
              <a:cxn ang="5400000">
                <a:pos x="wd2" y="hd2"/>
              </a:cxn>
              <a:cxn ang="10800000">
                <a:pos x="wd2" y="hd2"/>
              </a:cxn>
              <a:cxn ang="16200000">
                <a:pos x="wd2" y="hd2"/>
              </a:cxn>
            </a:cxnLst>
            <a:rect l="0" t="0" r="r" b="b"/>
            <a:pathLst>
              <a:path w="20683" h="20545" extrusionOk="0">
                <a:moveTo>
                  <a:pt x="9621" y="9676"/>
                </a:moveTo>
                <a:cubicBezTo>
                  <a:pt x="9621" y="9676"/>
                  <a:pt x="9621" y="9675"/>
                  <a:pt x="9621" y="9675"/>
                </a:cubicBezTo>
                <a:lnTo>
                  <a:pt x="9620" y="9674"/>
                </a:lnTo>
                <a:cubicBezTo>
                  <a:pt x="9620" y="9674"/>
                  <a:pt x="9621" y="9676"/>
                  <a:pt x="9621" y="9676"/>
                </a:cubicBezTo>
                <a:close/>
                <a:moveTo>
                  <a:pt x="19582" y="1266"/>
                </a:moveTo>
                <a:cubicBezTo>
                  <a:pt x="18115" y="-422"/>
                  <a:pt x="15737" y="-422"/>
                  <a:pt x="14270" y="1266"/>
                </a:cubicBezTo>
                <a:lnTo>
                  <a:pt x="14934" y="2030"/>
                </a:lnTo>
                <a:cubicBezTo>
                  <a:pt x="16034" y="765"/>
                  <a:pt x="17818" y="765"/>
                  <a:pt x="18918" y="2030"/>
                </a:cubicBezTo>
                <a:cubicBezTo>
                  <a:pt x="20019" y="3297"/>
                  <a:pt x="20019" y="5351"/>
                  <a:pt x="18918" y="6618"/>
                </a:cubicBezTo>
                <a:lnTo>
                  <a:pt x="8956" y="17881"/>
                </a:lnTo>
                <a:lnTo>
                  <a:pt x="9621" y="18645"/>
                </a:lnTo>
                <a:lnTo>
                  <a:pt x="19582" y="7382"/>
                </a:lnTo>
                <a:cubicBezTo>
                  <a:pt x="21050" y="5693"/>
                  <a:pt x="21050" y="2955"/>
                  <a:pt x="19582" y="1266"/>
                </a:cubicBezTo>
                <a:moveTo>
                  <a:pt x="2315" y="17881"/>
                </a:moveTo>
                <a:cubicBezTo>
                  <a:pt x="481" y="15770"/>
                  <a:pt x="481" y="12551"/>
                  <a:pt x="2315" y="10439"/>
                </a:cubicBezTo>
                <a:cubicBezTo>
                  <a:pt x="2317" y="10437"/>
                  <a:pt x="2320" y="10434"/>
                  <a:pt x="2323" y="10431"/>
                </a:cubicBezTo>
                <a:lnTo>
                  <a:pt x="2323" y="10431"/>
                </a:lnTo>
                <a:lnTo>
                  <a:pt x="9289" y="2413"/>
                </a:lnTo>
                <a:cubicBezTo>
                  <a:pt x="9472" y="2201"/>
                  <a:pt x="9472" y="1859"/>
                  <a:pt x="9289" y="1648"/>
                </a:cubicBezTo>
                <a:cubicBezTo>
                  <a:pt x="9105" y="1437"/>
                  <a:pt x="8808" y="1437"/>
                  <a:pt x="8624" y="1648"/>
                </a:cubicBezTo>
                <a:lnTo>
                  <a:pt x="1651" y="9675"/>
                </a:lnTo>
                <a:cubicBezTo>
                  <a:pt x="-550" y="12208"/>
                  <a:pt x="-550" y="16112"/>
                  <a:pt x="1651" y="18645"/>
                </a:cubicBezTo>
                <a:cubicBezTo>
                  <a:pt x="3852" y="21178"/>
                  <a:pt x="7420" y="21178"/>
                  <a:pt x="9621" y="18645"/>
                </a:cubicBezTo>
                <a:lnTo>
                  <a:pt x="8948" y="17889"/>
                </a:lnTo>
                <a:cubicBezTo>
                  <a:pt x="7114" y="19991"/>
                  <a:pt x="4147" y="19989"/>
                  <a:pt x="2315" y="17881"/>
                </a:cubicBezTo>
                <a:moveTo>
                  <a:pt x="6300" y="13497"/>
                </a:moveTo>
                <a:cubicBezTo>
                  <a:pt x="7033" y="14341"/>
                  <a:pt x="8223" y="14341"/>
                  <a:pt x="8956" y="13497"/>
                </a:cubicBezTo>
                <a:lnTo>
                  <a:pt x="13937" y="7764"/>
                </a:lnTo>
                <a:cubicBezTo>
                  <a:pt x="14121" y="7553"/>
                  <a:pt x="14121" y="7211"/>
                  <a:pt x="13937" y="7000"/>
                </a:cubicBezTo>
                <a:cubicBezTo>
                  <a:pt x="13754" y="6789"/>
                  <a:pt x="13457" y="6789"/>
                  <a:pt x="13273" y="7000"/>
                </a:cubicBezTo>
                <a:lnTo>
                  <a:pt x="8292" y="12732"/>
                </a:lnTo>
                <a:cubicBezTo>
                  <a:pt x="7926" y="13155"/>
                  <a:pt x="7331" y="13155"/>
                  <a:pt x="6964" y="12732"/>
                </a:cubicBezTo>
                <a:cubicBezTo>
                  <a:pt x="6597" y="12310"/>
                  <a:pt x="6597" y="11626"/>
                  <a:pt x="6964" y="11204"/>
                </a:cubicBezTo>
                <a:lnTo>
                  <a:pt x="8292" y="9675"/>
                </a:lnTo>
                <a:lnTo>
                  <a:pt x="14934" y="2030"/>
                </a:lnTo>
                <a:lnTo>
                  <a:pt x="14270" y="1266"/>
                </a:lnTo>
                <a:lnTo>
                  <a:pt x="6300" y="10439"/>
                </a:lnTo>
                <a:cubicBezTo>
                  <a:pt x="5566" y="11284"/>
                  <a:pt x="5566" y="12653"/>
                  <a:pt x="6300" y="13497"/>
                </a:cubicBezTo>
              </a:path>
            </a:pathLst>
          </a:custGeom>
          <a:solidFill>
            <a:schemeClr val="tx1"/>
          </a:solidFill>
          <a:ln w="12700">
            <a:miter lim="400000"/>
          </a:ln>
        </p:spPr>
        <p:txBody>
          <a:bodyPr lIns="14284" tIns="14284" rIns="14284" bIns="14284" anchor="ctr"/>
          <a:lstStyle/>
          <a:p>
            <a:pPr defTabSz="17139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effectLst>
                <a:outerShdw blurRad="38100" dist="12700" dir="5400000" rotWithShape="0">
                  <a:srgbClr val="000000">
                    <a:alpha val="50000"/>
                  </a:srgbClr>
                </a:outerShdw>
              </a:effectLst>
              <a:latin typeface="Calibri" panose="020F0502020204030204" pitchFamily="34" charset="0"/>
              <a:ea typeface="微软雅黑" panose="020B0503020204020204" pitchFamily="34" charset="-122"/>
              <a:sym typeface="Calibri" panose="020F0502020204030204" pitchFamily="34" charset="0"/>
            </a:endParaRPr>
          </a:p>
        </p:txBody>
      </p:sp>
      <p:sp>
        <p:nvSpPr>
          <p:cNvPr id="15" name="TextBox 41"/>
          <p:cNvSpPr txBox="1"/>
          <p:nvPr/>
        </p:nvSpPr>
        <p:spPr>
          <a:xfrm>
            <a:off x="5580112" y="2268185"/>
            <a:ext cx="2952328" cy="4493489"/>
          </a:xfrm>
          <a:prstGeom prst="rect">
            <a:avLst/>
          </a:prstGeom>
          <a:noFill/>
        </p:spPr>
        <p:txBody>
          <a:bodyPr wrap="square" lIns="60911" tIns="30456" rIns="60911" bIns="30456" rtlCol="0">
            <a:spAutoFit/>
          </a:bodyPr>
          <a:lstStyle/>
          <a:p>
            <a:pPr algn="just"/>
            <a:r>
              <a:rPr lang="en-US" altLang="zh-CN" dirty="0" smtClean="0"/>
              <a:t>(a)   </a:t>
            </a:r>
          </a:p>
          <a:p>
            <a:pPr indent="457200" algn="just"/>
            <a:r>
              <a:rPr lang="zh-CN" altLang="zh-CN" dirty="0" smtClean="0"/>
              <a:t>节点</a:t>
            </a:r>
            <a:r>
              <a:rPr lang="en-US" altLang="zh-CN" dirty="0"/>
              <a:t>C</a:t>
            </a:r>
            <a:r>
              <a:rPr lang="zh-CN" altLang="zh-CN" dirty="0"/>
              <a:t>有两个输入链路</a:t>
            </a:r>
            <a:r>
              <a:rPr lang="en-US" altLang="zh-CN" dirty="0"/>
              <a:t>A-C</a:t>
            </a:r>
            <a:r>
              <a:rPr lang="zh-CN" altLang="zh-CN" dirty="0"/>
              <a:t>和</a:t>
            </a:r>
            <a:r>
              <a:rPr lang="en-US" altLang="zh-CN" dirty="0"/>
              <a:t>B-C</a:t>
            </a:r>
            <a:r>
              <a:rPr lang="zh-CN" altLang="zh-CN" dirty="0"/>
              <a:t>，却只有一个输出链路</a:t>
            </a:r>
            <a:r>
              <a:rPr lang="en-US" altLang="zh-CN" dirty="0"/>
              <a:t>C-D</a:t>
            </a:r>
            <a:r>
              <a:rPr lang="zh-CN" altLang="zh-CN" dirty="0"/>
              <a:t>。当</a:t>
            </a:r>
            <a:r>
              <a:rPr lang="en-US" altLang="zh-CN" dirty="0"/>
              <a:t>S</a:t>
            </a:r>
            <a:r>
              <a:rPr lang="zh-CN" altLang="zh-CN" dirty="0"/>
              <a:t>同时向</a:t>
            </a:r>
            <a:r>
              <a:rPr lang="en-US" altLang="zh-CN" dirty="0"/>
              <a:t>E</a:t>
            </a:r>
            <a:r>
              <a:rPr lang="zh-CN" altLang="zh-CN" dirty="0"/>
              <a:t>和</a:t>
            </a:r>
            <a:r>
              <a:rPr lang="en-US" altLang="zh-CN" dirty="0"/>
              <a:t>F</a:t>
            </a:r>
            <a:r>
              <a:rPr lang="zh-CN" altLang="zh-CN" dirty="0"/>
              <a:t>传输数据时，</a:t>
            </a:r>
            <a:r>
              <a:rPr lang="en-US" altLang="zh-CN" dirty="0"/>
              <a:t>C-D</a:t>
            </a:r>
            <a:r>
              <a:rPr lang="zh-CN" altLang="zh-CN" dirty="0"/>
              <a:t>链路就成了此网络中的瓶颈，使得节点</a:t>
            </a:r>
            <a:r>
              <a:rPr lang="en-US" altLang="zh-CN" dirty="0"/>
              <a:t>E</a:t>
            </a:r>
            <a:r>
              <a:rPr lang="zh-CN" altLang="zh-CN" dirty="0"/>
              <a:t>和</a:t>
            </a:r>
            <a:r>
              <a:rPr lang="en-US" altLang="zh-CN" dirty="0"/>
              <a:t>F</a:t>
            </a:r>
            <a:r>
              <a:rPr lang="zh-CN" altLang="zh-CN" dirty="0"/>
              <a:t>无法同时达到网络的最大</a:t>
            </a:r>
            <a:r>
              <a:rPr lang="zh-CN" altLang="zh-CN" dirty="0" smtClean="0"/>
              <a:t>流</a:t>
            </a:r>
            <a:r>
              <a:rPr lang="zh-CN" altLang="en-US" dirty="0" smtClean="0"/>
              <a:t>。</a:t>
            </a:r>
            <a:endParaRPr lang="en-US" altLang="zh-CN" dirty="0" smtClean="0"/>
          </a:p>
          <a:p>
            <a:pPr indent="457200" algn="just"/>
            <a:endParaRPr lang="en-US" altLang="zh-CN" dirty="0" smtClean="0"/>
          </a:p>
          <a:p>
            <a:pPr algn="just"/>
            <a:r>
              <a:rPr lang="en-US" altLang="zh-CN" dirty="0" smtClean="0"/>
              <a:t>(b)</a:t>
            </a:r>
            <a:endParaRPr lang="en-US" altLang="zh-CN" sz="1400" dirty="0" smtClean="0">
              <a:solidFill>
                <a:schemeClr val="tx2">
                  <a:lumMod val="60000"/>
                  <a:lumOff val="40000"/>
                </a:schemeClr>
              </a:solidFill>
              <a:latin typeface="微软雅黑" panose="020B0503020204020204" pitchFamily="34" charset="-122"/>
              <a:ea typeface="微软雅黑" panose="020B0503020204020204" pitchFamily="34" charset="-122"/>
              <a:cs typeface="+mn-ea"/>
              <a:sym typeface="+mn-lt"/>
            </a:endParaRPr>
          </a:p>
          <a:p>
            <a:pPr indent="457200" algn="just"/>
            <a:r>
              <a:rPr lang="zh-CN" altLang="zh-CN" dirty="0" smtClean="0"/>
              <a:t>节点</a:t>
            </a:r>
            <a:r>
              <a:rPr lang="en-US" altLang="zh-CN" dirty="0"/>
              <a:t>C</a:t>
            </a:r>
            <a:r>
              <a:rPr lang="zh-CN" altLang="zh-CN" dirty="0"/>
              <a:t>对数据流</a:t>
            </a:r>
            <a:r>
              <a:rPr lang="en-US" altLang="zh-CN" dirty="0"/>
              <a:t>a</a:t>
            </a:r>
            <a:r>
              <a:rPr lang="zh-CN" altLang="zh-CN" dirty="0"/>
              <a:t>和</a:t>
            </a:r>
            <a:r>
              <a:rPr lang="en-US" altLang="zh-CN" dirty="0"/>
              <a:t>b</a:t>
            </a:r>
            <a:r>
              <a:rPr lang="zh-CN" altLang="zh-CN" dirty="0"/>
              <a:t>进行</a:t>
            </a:r>
            <a:r>
              <a:rPr lang="zh-CN" altLang="zh-CN" dirty="0">
                <a:solidFill>
                  <a:srgbClr val="FF0000"/>
                </a:solidFill>
              </a:rPr>
              <a:t>异或运算</a:t>
            </a:r>
            <a:r>
              <a:rPr lang="zh-CN" altLang="zh-CN" dirty="0"/>
              <a:t>处理后，将计算的结果代替原数据向前传输，节点</a:t>
            </a:r>
            <a:r>
              <a:rPr lang="en-US" altLang="zh-CN" dirty="0"/>
              <a:t>E</a:t>
            </a:r>
            <a:r>
              <a:rPr lang="zh-CN" altLang="zh-CN" dirty="0"/>
              <a:t>在收到数据</a:t>
            </a:r>
            <a:r>
              <a:rPr lang="en-US" altLang="zh-CN" dirty="0"/>
              <a:t>a</a:t>
            </a:r>
            <a:r>
              <a:rPr lang="zh-CN" altLang="zh-CN" dirty="0"/>
              <a:t>和</a:t>
            </a:r>
            <a:r>
              <a:rPr lang="en-US" altLang="zh-CN" dirty="0"/>
              <a:t>a+b</a:t>
            </a:r>
            <a:r>
              <a:rPr lang="zh-CN" altLang="zh-CN" dirty="0"/>
              <a:t>之后，使两者相减，即可恢复出数据</a:t>
            </a:r>
            <a:r>
              <a:rPr lang="en-US" altLang="zh-CN" dirty="0"/>
              <a:t>b</a:t>
            </a:r>
            <a:r>
              <a:rPr lang="zh-CN" altLang="zh-CN" dirty="0"/>
              <a:t>。</a:t>
            </a:r>
            <a:endParaRPr lang="en-GB" altLang="zh-CN" sz="1400" dirty="0">
              <a:solidFill>
                <a:schemeClr val="tx2">
                  <a:lumMod val="60000"/>
                  <a:lumOff val="40000"/>
                </a:schemeClr>
              </a:solidFill>
              <a:latin typeface="微软雅黑" panose="020B0503020204020204" pitchFamily="34" charset="-122"/>
              <a:ea typeface="微软雅黑" panose="020B0503020204020204" pitchFamily="34" charset="-122"/>
              <a:cs typeface="+mn-ea"/>
              <a:sym typeface="+mn-lt"/>
            </a:endParaRPr>
          </a:p>
        </p:txBody>
      </p:sp>
      <p:pic>
        <p:nvPicPr>
          <p:cNvPr id="17" name="Picture 3" descr="E:\融媒体\图标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9">
            <a:extLst>
              <a:ext uri="{FF2B5EF4-FFF2-40B4-BE49-F238E27FC236}">
                <a16:creationId xmlns:a16="http://schemas.microsoft.com/office/drawing/2014/main" id="{E0B1F243-186C-404B-A5FB-4BF7B9817DE9}"/>
              </a:ext>
            </a:extLst>
          </p:cNvPr>
          <p:cNvSpPr txBox="1"/>
          <p:nvPr/>
        </p:nvSpPr>
        <p:spPr>
          <a:xfrm>
            <a:off x="3707904" y="1471780"/>
            <a:ext cx="2262158" cy="461665"/>
          </a:xfrm>
          <a:prstGeom prst="rect">
            <a:avLst/>
          </a:prstGeom>
          <a:noFill/>
        </p:spPr>
        <p:txBody>
          <a:bodyPr wrap="none" rtlCol="0">
            <a:spAutoFit/>
          </a:bodyPr>
          <a:lstStyle/>
          <a:p>
            <a:pPr marL="0" marR="0" lvl="0" indent="0" algn="ctr" defTabSz="685663"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300" normalizeH="0" baseline="0" noProof="0" dirty="0" smtClean="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rPr>
              <a:t>网络编码理论</a:t>
            </a:r>
            <a:endParaRPr kumimoji="0" lang="en-US" sz="2400" b="1" i="0" u="none" strike="noStrike" kern="1200" cap="none" spc="300" normalizeH="0" baseline="0" noProof="0" dirty="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endParaRPr>
          </a:p>
        </p:txBody>
      </p:sp>
      <p:sp>
        <p:nvSpPr>
          <p:cNvPr id="2" name="Rectangle 2"/>
          <p:cNvSpPr>
            <a:spLocks noChangeArrowheads="1"/>
          </p:cNvSpPr>
          <p:nvPr/>
        </p:nvSpPr>
        <p:spPr bwMode="auto">
          <a:xfrm>
            <a:off x="2411760" y="29969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893708287"/>
              </p:ext>
            </p:extLst>
          </p:nvPr>
        </p:nvGraphicFramePr>
        <p:xfrm>
          <a:off x="213404" y="2789141"/>
          <a:ext cx="4759746" cy="3451579"/>
        </p:xfrm>
        <a:graphic>
          <a:graphicData uri="http://schemas.openxmlformats.org/presentationml/2006/ole">
            <mc:AlternateContent xmlns:mc="http://schemas.openxmlformats.org/markup-compatibility/2006">
              <mc:Choice xmlns:v="urn:schemas-microsoft-com:vml" Requires="v">
                <p:oleObj spid="_x0000_s1053" name="Visio" r:id="rId6" imgW="3962572" imgH="2872916" progId="Visio.Drawing.15">
                  <p:embed/>
                </p:oleObj>
              </mc:Choice>
              <mc:Fallback>
                <p:oleObj name="Visio" r:id="rId6" imgW="3962572" imgH="2872916"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404" y="2789141"/>
                        <a:ext cx="4759746" cy="3451579"/>
                      </a:xfrm>
                      <a:prstGeom prst="rect">
                        <a:avLst/>
                      </a:prstGeom>
                      <a:noFill/>
                    </p:spPr>
                  </p:pic>
                </p:oleObj>
              </mc:Fallback>
            </mc:AlternateContent>
          </a:graphicData>
        </a:graphic>
      </p:graphicFrame>
    </p:spTree>
    <p:extLst>
      <p:ext uri="{BB962C8B-B14F-4D97-AF65-F5344CB8AC3E}">
        <p14:creationId xmlns:p14="http://schemas.microsoft.com/office/powerpoint/2010/main" val="76099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
        <p:nvSpPr>
          <p:cNvPr id="15" name="TextBox 41"/>
          <p:cNvSpPr txBox="1"/>
          <p:nvPr/>
        </p:nvSpPr>
        <p:spPr>
          <a:xfrm>
            <a:off x="1062804" y="1893991"/>
            <a:ext cx="7181603" cy="5047487"/>
          </a:xfrm>
          <a:prstGeom prst="rect">
            <a:avLst/>
          </a:prstGeom>
          <a:noFill/>
        </p:spPr>
        <p:txBody>
          <a:bodyPr wrap="square" lIns="60911" tIns="30456" rIns="60911" bIns="30456" rtlCol="0">
            <a:spAutoFit/>
          </a:bodyPr>
          <a:lstStyle/>
          <a:p>
            <a:pPr indent="457200" algn="just"/>
            <a:r>
              <a:rPr lang="zh-CN" altLang="en-US" dirty="0"/>
              <a:t>设网络的最大理论传输容量为</a:t>
            </a:r>
            <a:r>
              <a:rPr lang="en-US" altLang="zh-CN" dirty="0"/>
              <a:t>h</a:t>
            </a:r>
            <a:r>
              <a:rPr lang="zh-CN" altLang="en-US" dirty="0"/>
              <a:t>，信源节点</a:t>
            </a:r>
            <a:r>
              <a:rPr lang="en-US" altLang="zh-CN" dirty="0"/>
              <a:t>S</a:t>
            </a:r>
            <a:r>
              <a:rPr lang="zh-CN" altLang="en-US" dirty="0"/>
              <a:t>发出的数据流为</a:t>
            </a:r>
            <a:r>
              <a:rPr lang="en-US" altLang="zh-CN" dirty="0"/>
              <a:t>X=[X1</a:t>
            </a:r>
            <a:r>
              <a:rPr lang="zh-CN" altLang="en-US" dirty="0"/>
              <a:t>，</a:t>
            </a:r>
            <a:r>
              <a:rPr lang="en-US" altLang="zh-CN" dirty="0"/>
              <a:t>X2</a:t>
            </a:r>
            <a:r>
              <a:rPr lang="zh-CN" altLang="en-US" dirty="0"/>
              <a:t>，</a:t>
            </a:r>
            <a:r>
              <a:rPr lang="en-US" altLang="zh-CN" dirty="0"/>
              <a:t>X3…</a:t>
            </a:r>
            <a:r>
              <a:rPr lang="en-US" altLang="zh-CN" dirty="0" err="1"/>
              <a:t>Xn</a:t>
            </a:r>
            <a:r>
              <a:rPr lang="en-US" altLang="zh-CN" dirty="0"/>
              <a:t>]</a:t>
            </a:r>
            <a:r>
              <a:rPr lang="zh-CN" altLang="en-US" dirty="0"/>
              <a:t>，则信源</a:t>
            </a:r>
            <a:r>
              <a:rPr lang="en-US" altLang="zh-CN" dirty="0"/>
              <a:t>S</a:t>
            </a:r>
            <a:r>
              <a:rPr lang="zh-CN" altLang="en-US" dirty="0"/>
              <a:t>与每个信宿之间均能建立</a:t>
            </a:r>
            <a:r>
              <a:rPr lang="en-US" altLang="zh-CN" dirty="0"/>
              <a:t>h</a:t>
            </a:r>
            <a:r>
              <a:rPr lang="zh-CN" altLang="en-US" dirty="0"/>
              <a:t>条不相交的</a:t>
            </a:r>
            <a:r>
              <a:rPr lang="zh-CN" altLang="en-US" dirty="0" smtClean="0"/>
              <a:t>路径，</a:t>
            </a:r>
            <a:r>
              <a:rPr lang="en-US" altLang="zh-CN" dirty="0" smtClean="0"/>
              <a:t>Y</a:t>
            </a:r>
            <a:r>
              <a:rPr lang="en-US" altLang="zh-CN" dirty="0"/>
              <a:t>=[Y1</a:t>
            </a:r>
            <a:r>
              <a:rPr lang="zh-CN" altLang="en-US" dirty="0"/>
              <a:t>，</a:t>
            </a:r>
            <a:r>
              <a:rPr lang="en-US" altLang="zh-CN" dirty="0"/>
              <a:t>Y2</a:t>
            </a:r>
            <a:r>
              <a:rPr lang="zh-CN" altLang="en-US" dirty="0"/>
              <a:t>，</a:t>
            </a:r>
            <a:r>
              <a:rPr lang="en-US" altLang="zh-CN" dirty="0"/>
              <a:t>Y3…</a:t>
            </a:r>
            <a:r>
              <a:rPr lang="en-US" altLang="zh-CN" dirty="0" err="1"/>
              <a:t>Yh</a:t>
            </a:r>
            <a:r>
              <a:rPr lang="en-US" altLang="zh-CN" dirty="0"/>
              <a:t>]</a:t>
            </a:r>
            <a:r>
              <a:rPr lang="zh-CN" altLang="en-US" dirty="0"/>
              <a:t>表示各路径的最后一条链路上传输的数据流的集合，</a:t>
            </a:r>
            <a:r>
              <a:rPr lang="en-US" altLang="zh-CN" dirty="0"/>
              <a:t>[mi1</a:t>
            </a:r>
            <a:r>
              <a:rPr lang="zh-CN" altLang="en-US" dirty="0"/>
              <a:t>，</a:t>
            </a:r>
            <a:r>
              <a:rPr lang="en-US" altLang="zh-CN" dirty="0"/>
              <a:t>mi2</a:t>
            </a:r>
            <a:r>
              <a:rPr lang="zh-CN" altLang="en-US" dirty="0"/>
              <a:t>，</a:t>
            </a:r>
            <a:r>
              <a:rPr lang="en-US" altLang="zh-CN" dirty="0"/>
              <a:t>mi3…</a:t>
            </a:r>
            <a:r>
              <a:rPr lang="en-US" altLang="zh-CN" dirty="0" err="1"/>
              <a:t>mih</a:t>
            </a:r>
            <a:r>
              <a:rPr lang="en-US" altLang="zh-CN" dirty="0"/>
              <a:t>]</a:t>
            </a:r>
            <a:r>
              <a:rPr lang="zh-CN" altLang="en-US" dirty="0"/>
              <a:t>是</a:t>
            </a:r>
            <a:r>
              <a:rPr lang="zh-CN" altLang="en-US" dirty="0">
                <a:solidFill>
                  <a:srgbClr val="FF0000"/>
                </a:solidFill>
              </a:rPr>
              <a:t>随机编码</a:t>
            </a:r>
            <a:r>
              <a:rPr lang="zh-CN" altLang="en-US" dirty="0" smtClean="0">
                <a:solidFill>
                  <a:srgbClr val="FF0000"/>
                </a:solidFill>
              </a:rPr>
              <a:t>矩阵</a:t>
            </a:r>
            <a:r>
              <a:rPr lang="zh-CN" altLang="en-US" dirty="0"/>
              <a:t>。</a:t>
            </a:r>
          </a:p>
          <a:p>
            <a:pPr indent="457200" algn="just"/>
            <a:r>
              <a:rPr lang="zh-CN" altLang="en-US" dirty="0" smtClean="0"/>
              <a:t>编码</a:t>
            </a:r>
            <a:r>
              <a:rPr lang="zh-CN" altLang="en-US" dirty="0"/>
              <a:t>的过程可以表示为</a:t>
            </a:r>
            <a:r>
              <a:rPr lang="zh-CN" altLang="en-US" dirty="0" smtClean="0"/>
              <a:t>：</a:t>
            </a:r>
            <a:endParaRPr lang="en-US" altLang="zh-CN" dirty="0" smtClean="0"/>
          </a:p>
          <a:p>
            <a:pPr indent="457200" algn="just"/>
            <a:endParaRPr lang="en-US" altLang="zh-CN" dirty="0" smtClean="0"/>
          </a:p>
          <a:p>
            <a:pPr indent="457200" algn="just"/>
            <a:endParaRPr lang="en-US" altLang="zh-CN" dirty="0"/>
          </a:p>
          <a:p>
            <a:pPr indent="457200" algn="just"/>
            <a:endParaRPr lang="en-US" altLang="zh-CN" dirty="0" smtClean="0"/>
          </a:p>
          <a:p>
            <a:pPr indent="457200" algn="just"/>
            <a:endParaRPr lang="en-US" altLang="zh-CN" dirty="0"/>
          </a:p>
          <a:p>
            <a:pPr indent="457200" algn="just"/>
            <a:endParaRPr lang="zh-CN" altLang="en-US" dirty="0"/>
          </a:p>
          <a:p>
            <a:pPr indent="457200" algn="just"/>
            <a:r>
              <a:rPr lang="zh-CN" altLang="en-US" dirty="0" smtClean="0"/>
              <a:t>解码</a:t>
            </a:r>
            <a:r>
              <a:rPr lang="zh-CN" altLang="en-US" dirty="0"/>
              <a:t>是编码的逆过程，假设随机编码矩阵</a:t>
            </a:r>
            <a:r>
              <a:rPr lang="en-US" altLang="zh-CN" dirty="0"/>
              <a:t>[mi1</a:t>
            </a:r>
            <a:r>
              <a:rPr lang="zh-CN" altLang="en-US" dirty="0"/>
              <a:t>，</a:t>
            </a:r>
            <a:r>
              <a:rPr lang="en-US" altLang="zh-CN" dirty="0"/>
              <a:t>mi2</a:t>
            </a:r>
            <a:r>
              <a:rPr lang="zh-CN" altLang="en-US" dirty="0"/>
              <a:t>，</a:t>
            </a:r>
            <a:r>
              <a:rPr lang="en-US" altLang="zh-CN" dirty="0"/>
              <a:t>mi3…</a:t>
            </a:r>
            <a:r>
              <a:rPr lang="en-US" altLang="zh-CN" dirty="0" err="1"/>
              <a:t>mih</a:t>
            </a:r>
            <a:r>
              <a:rPr lang="en-US" altLang="zh-CN" dirty="0"/>
              <a:t>]</a:t>
            </a:r>
            <a:r>
              <a:rPr lang="zh-CN" altLang="en-US" dirty="0"/>
              <a:t>可逆且将其逆矩阵用</a:t>
            </a:r>
            <a:r>
              <a:rPr lang="en-US" altLang="zh-CN" dirty="0"/>
              <a:t>N</a:t>
            </a:r>
            <a:r>
              <a:rPr lang="zh-CN" altLang="en-US" dirty="0"/>
              <a:t>表示，则解码的过程可以表示为</a:t>
            </a:r>
            <a:r>
              <a:rPr lang="zh-CN" altLang="en-US" dirty="0" smtClean="0"/>
              <a:t>：</a:t>
            </a:r>
            <a:endParaRPr lang="en-US" altLang="zh-CN" dirty="0" smtClean="0"/>
          </a:p>
          <a:p>
            <a:pPr indent="457200" algn="just"/>
            <a:endParaRPr lang="en-US" altLang="zh-CN" dirty="0"/>
          </a:p>
          <a:p>
            <a:pPr indent="457200" algn="just"/>
            <a:endParaRPr lang="en-US" altLang="zh-CN" dirty="0" smtClean="0"/>
          </a:p>
          <a:p>
            <a:pPr indent="457200" algn="just"/>
            <a:endParaRPr lang="en-US" altLang="zh-CN" dirty="0"/>
          </a:p>
          <a:p>
            <a:pPr indent="457200" algn="just"/>
            <a:endParaRPr lang="en-US" altLang="zh-CN" dirty="0" smtClean="0"/>
          </a:p>
          <a:p>
            <a:pPr indent="457200" algn="just"/>
            <a:endParaRPr lang="en-US" altLang="zh-CN" dirty="0" smtClean="0"/>
          </a:p>
          <a:p>
            <a:pPr algn="just"/>
            <a:endParaRPr lang="zh-CN" altLang="en-US" dirty="0"/>
          </a:p>
        </p:txBody>
      </p:sp>
      <p:pic>
        <p:nvPicPr>
          <p:cNvPr id="1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9">
            <a:extLst>
              <a:ext uri="{FF2B5EF4-FFF2-40B4-BE49-F238E27FC236}">
                <a16:creationId xmlns:a16="http://schemas.microsoft.com/office/drawing/2014/main" id="{E0B1F243-186C-404B-A5FB-4BF7B9817DE9}"/>
              </a:ext>
            </a:extLst>
          </p:cNvPr>
          <p:cNvSpPr txBox="1"/>
          <p:nvPr/>
        </p:nvSpPr>
        <p:spPr>
          <a:xfrm>
            <a:off x="1882802" y="1221495"/>
            <a:ext cx="5378395" cy="461665"/>
          </a:xfrm>
          <a:prstGeom prst="rect">
            <a:avLst/>
          </a:prstGeom>
          <a:noFill/>
        </p:spPr>
        <p:txBody>
          <a:bodyPr wrap="none" rtlCol="0">
            <a:spAutoFit/>
          </a:bodyPr>
          <a:lstStyle/>
          <a:p>
            <a:pPr marL="0" marR="0" lvl="0" indent="0" algn="ctr" defTabSz="685663"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300" normalizeH="0" baseline="0" noProof="0" dirty="0" smtClean="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rPr>
              <a:t>随机线性网络编码、稀疏网络编码</a:t>
            </a:r>
            <a:endParaRPr kumimoji="0" lang="en-US" sz="2400" b="1" i="0" u="none" strike="noStrike" kern="1200" cap="none" spc="300" normalizeH="0" baseline="0" noProof="0" dirty="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endParaRPr>
          </a:p>
        </p:txBody>
      </p:sp>
      <p:sp>
        <p:nvSpPr>
          <p:cNvPr id="2" name="Rectangle 2"/>
          <p:cNvSpPr>
            <a:spLocks noChangeArrowheads="1"/>
          </p:cNvSpPr>
          <p:nvPr/>
        </p:nvSpPr>
        <p:spPr bwMode="auto">
          <a:xfrm>
            <a:off x="2411760" y="29969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2" name="图片 21"/>
          <p:cNvPicPr>
            <a:picLocks noChangeAspect="1"/>
          </p:cNvPicPr>
          <p:nvPr/>
        </p:nvPicPr>
        <p:blipFill>
          <a:blip r:embed="rId5"/>
          <a:stretch>
            <a:fillRect/>
          </a:stretch>
        </p:blipFill>
        <p:spPr>
          <a:xfrm>
            <a:off x="2908887" y="3362166"/>
            <a:ext cx="2796782" cy="1211685"/>
          </a:xfrm>
          <a:prstGeom prst="rect">
            <a:avLst/>
          </a:prstGeom>
        </p:spPr>
      </p:pic>
      <p:pic>
        <p:nvPicPr>
          <p:cNvPr id="23" name="图片 22"/>
          <p:cNvPicPr>
            <a:picLocks noChangeAspect="1"/>
          </p:cNvPicPr>
          <p:nvPr/>
        </p:nvPicPr>
        <p:blipFill>
          <a:blip r:embed="rId6"/>
          <a:stretch>
            <a:fillRect/>
          </a:stretch>
        </p:blipFill>
        <p:spPr>
          <a:xfrm>
            <a:off x="3658441" y="5300723"/>
            <a:ext cx="1455546" cy="1226926"/>
          </a:xfrm>
          <a:prstGeom prst="rect">
            <a:avLst/>
          </a:prstGeom>
        </p:spPr>
      </p:pic>
    </p:spTree>
    <p:extLst>
      <p:ext uri="{BB962C8B-B14F-4D97-AF65-F5344CB8AC3E}">
        <p14:creationId xmlns:p14="http://schemas.microsoft.com/office/powerpoint/2010/main" val="200596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
        <p:nvSpPr>
          <p:cNvPr id="8" name="Hexagon 62"/>
          <p:cNvSpPr/>
          <p:nvPr/>
        </p:nvSpPr>
        <p:spPr>
          <a:xfrm rot="5400000">
            <a:off x="727432" y="1141660"/>
            <a:ext cx="1581870" cy="1363682"/>
          </a:xfrm>
          <a:prstGeom prst="hexag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defRPr/>
            </a:pPr>
            <a:endParaRPr lang="en-US">
              <a:solidFill>
                <a:srgbClr val="FFFFFF"/>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13" name="Shape 2782">
            <a:extLst>
              <a:ext uri="{FF2B5EF4-FFF2-40B4-BE49-F238E27FC236}">
                <a16:creationId xmlns:a16="http://schemas.microsoft.com/office/drawing/2014/main" id="{2D7A61C8-1425-4EA1-BED5-595B6A5D0075}"/>
              </a:ext>
            </a:extLst>
          </p:cNvPr>
          <p:cNvSpPr/>
          <p:nvPr/>
        </p:nvSpPr>
        <p:spPr>
          <a:xfrm>
            <a:off x="1237550" y="1612291"/>
            <a:ext cx="561634" cy="496403"/>
          </a:xfrm>
          <a:custGeom>
            <a:avLst/>
            <a:gdLst/>
            <a:ahLst/>
            <a:cxnLst>
              <a:cxn ang="0">
                <a:pos x="wd2" y="hd2"/>
              </a:cxn>
              <a:cxn ang="5400000">
                <a:pos x="wd2" y="hd2"/>
              </a:cxn>
              <a:cxn ang="10800000">
                <a:pos x="wd2" y="hd2"/>
              </a:cxn>
              <a:cxn ang="16200000">
                <a:pos x="wd2" y="hd2"/>
              </a:cxn>
            </a:cxnLst>
            <a:rect l="0" t="0" r="r" b="b"/>
            <a:pathLst>
              <a:path w="20683" h="20545" extrusionOk="0">
                <a:moveTo>
                  <a:pt x="9621" y="9676"/>
                </a:moveTo>
                <a:cubicBezTo>
                  <a:pt x="9621" y="9676"/>
                  <a:pt x="9621" y="9675"/>
                  <a:pt x="9621" y="9675"/>
                </a:cubicBezTo>
                <a:lnTo>
                  <a:pt x="9620" y="9674"/>
                </a:lnTo>
                <a:cubicBezTo>
                  <a:pt x="9620" y="9674"/>
                  <a:pt x="9621" y="9676"/>
                  <a:pt x="9621" y="9676"/>
                </a:cubicBezTo>
                <a:close/>
                <a:moveTo>
                  <a:pt x="19582" y="1266"/>
                </a:moveTo>
                <a:cubicBezTo>
                  <a:pt x="18115" y="-422"/>
                  <a:pt x="15737" y="-422"/>
                  <a:pt x="14270" y="1266"/>
                </a:cubicBezTo>
                <a:lnTo>
                  <a:pt x="14934" y="2030"/>
                </a:lnTo>
                <a:cubicBezTo>
                  <a:pt x="16034" y="765"/>
                  <a:pt x="17818" y="765"/>
                  <a:pt x="18918" y="2030"/>
                </a:cubicBezTo>
                <a:cubicBezTo>
                  <a:pt x="20019" y="3297"/>
                  <a:pt x="20019" y="5351"/>
                  <a:pt x="18918" y="6618"/>
                </a:cubicBezTo>
                <a:lnTo>
                  <a:pt x="8956" y="17881"/>
                </a:lnTo>
                <a:lnTo>
                  <a:pt x="9621" y="18645"/>
                </a:lnTo>
                <a:lnTo>
                  <a:pt x="19582" y="7382"/>
                </a:lnTo>
                <a:cubicBezTo>
                  <a:pt x="21050" y="5693"/>
                  <a:pt x="21050" y="2955"/>
                  <a:pt x="19582" y="1266"/>
                </a:cubicBezTo>
                <a:moveTo>
                  <a:pt x="2315" y="17881"/>
                </a:moveTo>
                <a:cubicBezTo>
                  <a:pt x="481" y="15770"/>
                  <a:pt x="481" y="12551"/>
                  <a:pt x="2315" y="10439"/>
                </a:cubicBezTo>
                <a:cubicBezTo>
                  <a:pt x="2317" y="10437"/>
                  <a:pt x="2320" y="10434"/>
                  <a:pt x="2323" y="10431"/>
                </a:cubicBezTo>
                <a:lnTo>
                  <a:pt x="2323" y="10431"/>
                </a:lnTo>
                <a:lnTo>
                  <a:pt x="9289" y="2413"/>
                </a:lnTo>
                <a:cubicBezTo>
                  <a:pt x="9472" y="2201"/>
                  <a:pt x="9472" y="1859"/>
                  <a:pt x="9289" y="1648"/>
                </a:cubicBezTo>
                <a:cubicBezTo>
                  <a:pt x="9105" y="1437"/>
                  <a:pt x="8808" y="1437"/>
                  <a:pt x="8624" y="1648"/>
                </a:cubicBezTo>
                <a:lnTo>
                  <a:pt x="1651" y="9675"/>
                </a:lnTo>
                <a:cubicBezTo>
                  <a:pt x="-550" y="12208"/>
                  <a:pt x="-550" y="16112"/>
                  <a:pt x="1651" y="18645"/>
                </a:cubicBezTo>
                <a:cubicBezTo>
                  <a:pt x="3852" y="21178"/>
                  <a:pt x="7420" y="21178"/>
                  <a:pt x="9621" y="18645"/>
                </a:cubicBezTo>
                <a:lnTo>
                  <a:pt x="8948" y="17889"/>
                </a:lnTo>
                <a:cubicBezTo>
                  <a:pt x="7114" y="19991"/>
                  <a:pt x="4147" y="19989"/>
                  <a:pt x="2315" y="17881"/>
                </a:cubicBezTo>
                <a:moveTo>
                  <a:pt x="6300" y="13497"/>
                </a:moveTo>
                <a:cubicBezTo>
                  <a:pt x="7033" y="14341"/>
                  <a:pt x="8223" y="14341"/>
                  <a:pt x="8956" y="13497"/>
                </a:cubicBezTo>
                <a:lnTo>
                  <a:pt x="13937" y="7764"/>
                </a:lnTo>
                <a:cubicBezTo>
                  <a:pt x="14121" y="7553"/>
                  <a:pt x="14121" y="7211"/>
                  <a:pt x="13937" y="7000"/>
                </a:cubicBezTo>
                <a:cubicBezTo>
                  <a:pt x="13754" y="6789"/>
                  <a:pt x="13457" y="6789"/>
                  <a:pt x="13273" y="7000"/>
                </a:cubicBezTo>
                <a:lnTo>
                  <a:pt x="8292" y="12732"/>
                </a:lnTo>
                <a:cubicBezTo>
                  <a:pt x="7926" y="13155"/>
                  <a:pt x="7331" y="13155"/>
                  <a:pt x="6964" y="12732"/>
                </a:cubicBezTo>
                <a:cubicBezTo>
                  <a:pt x="6597" y="12310"/>
                  <a:pt x="6597" y="11626"/>
                  <a:pt x="6964" y="11204"/>
                </a:cubicBezTo>
                <a:lnTo>
                  <a:pt x="8292" y="9675"/>
                </a:lnTo>
                <a:lnTo>
                  <a:pt x="14934" y="2030"/>
                </a:lnTo>
                <a:lnTo>
                  <a:pt x="14270" y="1266"/>
                </a:lnTo>
                <a:lnTo>
                  <a:pt x="6300" y="10439"/>
                </a:lnTo>
                <a:cubicBezTo>
                  <a:pt x="5566" y="11284"/>
                  <a:pt x="5566" y="12653"/>
                  <a:pt x="6300" y="13497"/>
                </a:cubicBezTo>
              </a:path>
            </a:pathLst>
          </a:custGeom>
          <a:solidFill>
            <a:schemeClr val="tx1"/>
          </a:solidFill>
          <a:ln w="12700">
            <a:miter lim="400000"/>
          </a:ln>
        </p:spPr>
        <p:txBody>
          <a:bodyPr lIns="14284" tIns="14284" rIns="14284" bIns="14284" anchor="ctr"/>
          <a:lstStyle/>
          <a:p>
            <a:pPr defTabSz="17139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effectLst>
                <a:outerShdw blurRad="38100" dist="12700" dir="5400000" rotWithShape="0">
                  <a:srgbClr val="000000">
                    <a:alpha val="50000"/>
                  </a:srgbClr>
                </a:outerShdw>
              </a:effectLst>
              <a:latin typeface="Calibri" panose="020F0502020204030204" pitchFamily="34" charset="0"/>
              <a:ea typeface="微软雅黑" panose="020B0503020204020204" pitchFamily="34" charset="-122"/>
              <a:sym typeface="Calibri" panose="020F0502020204030204" pitchFamily="34" charset="0"/>
            </a:endParaRPr>
          </a:p>
        </p:txBody>
      </p:sp>
      <p:sp>
        <p:nvSpPr>
          <p:cNvPr id="15" name="TextBox 41"/>
          <p:cNvSpPr txBox="1"/>
          <p:nvPr/>
        </p:nvSpPr>
        <p:spPr>
          <a:xfrm>
            <a:off x="805051" y="2796639"/>
            <a:ext cx="7848872" cy="3600937"/>
          </a:xfrm>
          <a:prstGeom prst="rect">
            <a:avLst/>
          </a:prstGeom>
          <a:noFill/>
        </p:spPr>
        <p:txBody>
          <a:bodyPr wrap="square" lIns="60911" tIns="30456" rIns="60911" bIns="30456" rtlCol="0">
            <a:spAutoFit/>
          </a:bodyPr>
          <a:lstStyle/>
          <a:p>
            <a:pPr indent="457200" algn="just"/>
            <a:r>
              <a:rPr lang="zh-CN" altLang="zh-CN" dirty="0"/>
              <a:t>域是一个可以在其上</a:t>
            </a:r>
            <a:r>
              <a:rPr lang="zh-CN" altLang="zh-CN" dirty="0" smtClean="0"/>
              <a:t>进行</a:t>
            </a:r>
            <a:r>
              <a:rPr lang="zh-CN" altLang="en-US" dirty="0" smtClean="0"/>
              <a:t>各种</a:t>
            </a:r>
            <a:r>
              <a:rPr lang="zh-CN" altLang="zh-CN" dirty="0" smtClean="0"/>
              <a:t>运算</a:t>
            </a:r>
            <a:r>
              <a:rPr lang="zh-CN" altLang="zh-CN" dirty="0"/>
              <a:t>而</a:t>
            </a:r>
            <a:r>
              <a:rPr lang="zh-CN" altLang="zh-CN" dirty="0">
                <a:solidFill>
                  <a:srgbClr val="FF0000"/>
                </a:solidFill>
              </a:rPr>
              <a:t>结果不会超出域</a:t>
            </a:r>
            <a:r>
              <a:rPr lang="zh-CN" altLang="zh-CN" dirty="0"/>
              <a:t>的集合，如有理数集合、实数</a:t>
            </a:r>
            <a:r>
              <a:rPr lang="zh-CN" altLang="zh-CN" dirty="0" smtClean="0"/>
              <a:t>集合</a:t>
            </a:r>
            <a:r>
              <a:rPr lang="zh-CN" altLang="en-US" dirty="0" smtClean="0"/>
              <a:t>等</a:t>
            </a:r>
            <a:r>
              <a:rPr lang="zh-CN" altLang="zh-CN" dirty="0" smtClean="0"/>
              <a:t>都是域</a:t>
            </a:r>
            <a:r>
              <a:rPr lang="zh-CN" altLang="en-US" dirty="0" smtClean="0"/>
              <a:t>。</a:t>
            </a:r>
            <a:r>
              <a:rPr lang="zh-CN" altLang="zh-CN" dirty="0" smtClean="0"/>
              <a:t>有限域</a:t>
            </a:r>
            <a:r>
              <a:rPr lang="en-US" altLang="zh-CN" dirty="0"/>
              <a:t>(</a:t>
            </a:r>
            <a:r>
              <a:rPr lang="zh-CN" altLang="zh-CN" dirty="0" smtClean="0"/>
              <a:t>也</a:t>
            </a:r>
            <a:r>
              <a:rPr lang="zh-CN" altLang="zh-CN" dirty="0"/>
              <a:t>称伽罗华</a:t>
            </a:r>
            <a:r>
              <a:rPr lang="zh-CN" altLang="zh-CN" dirty="0" smtClean="0"/>
              <a:t>域</a:t>
            </a:r>
            <a:r>
              <a:rPr lang="en-US" altLang="zh-CN" dirty="0" smtClean="0"/>
              <a:t>Galois </a:t>
            </a:r>
            <a:r>
              <a:rPr lang="en-US" altLang="zh-CN" dirty="0"/>
              <a:t>Field)</a:t>
            </a:r>
            <a:r>
              <a:rPr lang="zh-CN" altLang="zh-CN" dirty="0"/>
              <a:t>，是</a:t>
            </a:r>
            <a:r>
              <a:rPr lang="zh-CN" altLang="zh-CN" dirty="0">
                <a:solidFill>
                  <a:srgbClr val="FF0000"/>
                </a:solidFill>
              </a:rPr>
              <a:t>仅含有限个元素</a:t>
            </a:r>
            <a:r>
              <a:rPr lang="zh-CN" altLang="zh-CN" dirty="0"/>
              <a:t>的</a:t>
            </a:r>
            <a:r>
              <a:rPr lang="zh-CN" altLang="zh-CN" dirty="0" smtClean="0"/>
              <a:t>域</a:t>
            </a:r>
            <a:r>
              <a:rPr lang="zh-CN" altLang="en-US" dirty="0" smtClean="0"/>
              <a:t>，记为</a:t>
            </a:r>
            <a:r>
              <a:rPr lang="en-US" altLang="zh-CN" dirty="0" smtClean="0"/>
              <a:t>GF(p)</a:t>
            </a:r>
            <a:r>
              <a:rPr lang="zh-CN" altLang="en-US" dirty="0" smtClean="0"/>
              <a:t>。</a:t>
            </a:r>
            <a:r>
              <a:rPr lang="zh-CN" altLang="zh-CN" dirty="0"/>
              <a:t>由于目前广泛使用的主流计算机的寄存器字长都是</a:t>
            </a:r>
            <a:r>
              <a:rPr lang="en-US" altLang="zh-CN" dirty="0"/>
              <a:t>2</a:t>
            </a:r>
            <a:r>
              <a:rPr lang="zh-CN" altLang="zh-CN" dirty="0"/>
              <a:t>的倍数，所以</a:t>
            </a:r>
            <a:r>
              <a:rPr lang="en-US" altLang="zh-CN" dirty="0"/>
              <a:t>GF(2</a:t>
            </a:r>
            <a:r>
              <a:rPr lang="en-US" altLang="zh-CN" baseline="30000" dirty="0"/>
              <a:t>n</a:t>
            </a:r>
            <a:r>
              <a:rPr lang="en-US" altLang="zh-CN" dirty="0"/>
              <a:t>)</a:t>
            </a:r>
            <a:r>
              <a:rPr lang="zh-CN" altLang="zh-CN" dirty="0"/>
              <a:t>是使用最为广泛的有限域</a:t>
            </a:r>
            <a:r>
              <a:rPr lang="zh-CN" altLang="zh-CN" dirty="0" smtClean="0"/>
              <a:t>。</a:t>
            </a:r>
            <a:endParaRPr lang="en-US" altLang="zh-CN" dirty="0" smtClean="0"/>
          </a:p>
          <a:p>
            <a:pPr indent="457200" algn="just"/>
            <a:endParaRPr lang="en-US" altLang="zh-CN" dirty="0"/>
          </a:p>
          <a:p>
            <a:pPr indent="457200"/>
            <a:r>
              <a:rPr lang="zh-CN" altLang="zh-CN" dirty="0"/>
              <a:t>例如有限域</a:t>
            </a:r>
            <a:r>
              <a:rPr lang="en-US" altLang="zh-CN" dirty="0"/>
              <a:t>GF(19)</a:t>
            </a:r>
            <a:r>
              <a:rPr lang="zh-CN" altLang="zh-CN" dirty="0"/>
              <a:t>，其元素是</a:t>
            </a:r>
            <a:r>
              <a:rPr lang="en-US" altLang="zh-CN" dirty="0"/>
              <a:t>{0</a:t>
            </a:r>
            <a:r>
              <a:rPr lang="zh-CN" altLang="zh-CN" dirty="0"/>
              <a:t>，</a:t>
            </a:r>
            <a:r>
              <a:rPr lang="en-US" altLang="zh-CN" dirty="0"/>
              <a:t>1</a:t>
            </a:r>
            <a:r>
              <a:rPr lang="zh-CN" altLang="zh-CN" dirty="0"/>
              <a:t>，</a:t>
            </a:r>
            <a:r>
              <a:rPr lang="en-US" altLang="zh-CN" dirty="0"/>
              <a:t>2</a:t>
            </a:r>
            <a:r>
              <a:rPr lang="zh-CN" altLang="zh-CN" dirty="0"/>
              <a:t>，…，</a:t>
            </a:r>
            <a:r>
              <a:rPr lang="en-US" altLang="zh-CN" dirty="0"/>
              <a:t>18}</a:t>
            </a:r>
            <a:r>
              <a:rPr lang="zh-CN" altLang="zh-CN" dirty="0"/>
              <a:t>，下面是</a:t>
            </a:r>
            <a:r>
              <a:rPr lang="en-US" altLang="zh-CN" dirty="0"/>
              <a:t>GF(19)</a:t>
            </a:r>
            <a:r>
              <a:rPr lang="zh-CN" altLang="zh-CN" dirty="0"/>
              <a:t>中的基本运算示例：</a:t>
            </a:r>
          </a:p>
          <a:p>
            <a:pPr indent="457200"/>
            <a:r>
              <a:rPr lang="zh-CN" altLang="zh-CN" dirty="0"/>
              <a:t>①加法：</a:t>
            </a:r>
            <a:r>
              <a:rPr lang="en-US" altLang="zh-CN" dirty="0"/>
              <a:t>5+17=22 </a:t>
            </a:r>
            <a:r>
              <a:rPr lang="en-US" altLang="zh-CN" dirty="0">
                <a:solidFill>
                  <a:srgbClr val="FF0000"/>
                </a:solidFill>
              </a:rPr>
              <a:t>𝑚𝑜𝑑 </a:t>
            </a:r>
            <a:r>
              <a:rPr lang="en-US" altLang="zh-CN" dirty="0"/>
              <a:t>19=3</a:t>
            </a:r>
            <a:r>
              <a:rPr lang="zh-CN" altLang="zh-CN" dirty="0"/>
              <a:t>；</a:t>
            </a:r>
          </a:p>
          <a:p>
            <a:pPr indent="457200"/>
            <a:r>
              <a:rPr lang="zh-CN" altLang="zh-CN" dirty="0"/>
              <a:t>②减法：</a:t>
            </a:r>
            <a:r>
              <a:rPr lang="en-US" altLang="zh-CN" dirty="0"/>
              <a:t>5-17=-12 𝑚𝑜𝑑 19=7</a:t>
            </a:r>
            <a:r>
              <a:rPr lang="zh-CN" altLang="zh-CN" dirty="0"/>
              <a:t>；</a:t>
            </a:r>
          </a:p>
          <a:p>
            <a:pPr indent="457200"/>
            <a:r>
              <a:rPr lang="zh-CN" altLang="zh-CN" dirty="0"/>
              <a:t>③乘法：</a:t>
            </a:r>
            <a:r>
              <a:rPr lang="en-US" altLang="zh-CN" dirty="0"/>
              <a:t>5</a:t>
            </a:r>
            <a:r>
              <a:rPr lang="zh-CN" altLang="zh-CN" dirty="0"/>
              <a:t>×</a:t>
            </a:r>
            <a:r>
              <a:rPr lang="en-US" altLang="zh-CN" dirty="0"/>
              <a:t>17=85 𝑚𝑜𝑑 19=9</a:t>
            </a:r>
            <a:r>
              <a:rPr lang="zh-CN" altLang="zh-CN" dirty="0"/>
              <a:t>；</a:t>
            </a:r>
          </a:p>
          <a:p>
            <a:pPr indent="457200"/>
            <a:r>
              <a:rPr lang="zh-CN" altLang="zh-CN" dirty="0"/>
              <a:t>④求逆：</a:t>
            </a:r>
            <a:r>
              <a:rPr lang="en-US" altLang="zh-CN" dirty="0"/>
              <a:t>5</a:t>
            </a:r>
            <a:r>
              <a:rPr lang="en-US" altLang="zh-CN" baseline="30000" dirty="0"/>
              <a:t>-1</a:t>
            </a:r>
            <a:r>
              <a:rPr lang="en-US" altLang="zh-CN" dirty="0"/>
              <a:t>=4</a:t>
            </a:r>
            <a:r>
              <a:rPr lang="zh-CN" altLang="zh-CN" dirty="0"/>
              <a:t>，因为</a:t>
            </a:r>
            <a:r>
              <a:rPr lang="en-US" altLang="zh-CN" dirty="0"/>
              <a:t>(5</a:t>
            </a:r>
            <a:r>
              <a:rPr lang="zh-CN" altLang="zh-CN" dirty="0"/>
              <a:t>×</a:t>
            </a:r>
            <a:r>
              <a:rPr lang="en-US" altLang="zh-CN" dirty="0"/>
              <a:t>4) 𝑚𝑜𝑑 19=1</a:t>
            </a:r>
            <a:r>
              <a:rPr lang="zh-CN" altLang="zh-CN" dirty="0"/>
              <a:t>。</a:t>
            </a:r>
            <a:endParaRPr lang="en-US" altLang="zh-CN" dirty="0" smtClean="0"/>
          </a:p>
          <a:p>
            <a:pPr indent="457200" algn="just"/>
            <a:endParaRPr lang="en-US" altLang="zh-CN" dirty="0" smtClean="0"/>
          </a:p>
          <a:p>
            <a:pPr indent="457200" algn="just"/>
            <a:endParaRPr lang="en-GB" altLang="zh-CN" sz="1400" dirty="0">
              <a:solidFill>
                <a:schemeClr val="tx2">
                  <a:lumMod val="60000"/>
                  <a:lumOff val="40000"/>
                </a:schemeClr>
              </a:solidFill>
              <a:latin typeface="微软雅黑" panose="020B0503020204020204" pitchFamily="34" charset="-122"/>
              <a:ea typeface="微软雅黑" panose="020B0503020204020204" pitchFamily="34" charset="-122"/>
              <a:cs typeface="+mn-ea"/>
              <a:sym typeface="+mn-lt"/>
            </a:endParaRPr>
          </a:p>
        </p:txBody>
      </p:sp>
      <p:pic>
        <p:nvPicPr>
          <p:cNvPr id="1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9">
            <a:extLst>
              <a:ext uri="{FF2B5EF4-FFF2-40B4-BE49-F238E27FC236}">
                <a16:creationId xmlns:a16="http://schemas.microsoft.com/office/drawing/2014/main" id="{E0B1F243-186C-404B-A5FB-4BF7B9817DE9}"/>
              </a:ext>
            </a:extLst>
          </p:cNvPr>
          <p:cNvSpPr txBox="1"/>
          <p:nvPr/>
        </p:nvSpPr>
        <p:spPr>
          <a:xfrm>
            <a:off x="3491880" y="1555376"/>
            <a:ext cx="2608406" cy="461665"/>
          </a:xfrm>
          <a:prstGeom prst="rect">
            <a:avLst/>
          </a:prstGeom>
          <a:noFill/>
        </p:spPr>
        <p:txBody>
          <a:bodyPr wrap="none" rtlCol="0">
            <a:spAutoFit/>
          </a:bodyPr>
          <a:lstStyle/>
          <a:p>
            <a:pPr marL="0" marR="0" lvl="0" indent="0" algn="ctr" defTabSz="685663"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300" normalizeH="0" baseline="0" noProof="0" dirty="0" smtClean="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rPr>
              <a:t>有限域下的运算</a:t>
            </a:r>
            <a:endParaRPr kumimoji="0" lang="en-US" sz="2400" b="1" i="0" u="none" strike="noStrike" kern="1200" cap="none" spc="300" normalizeH="0" baseline="0" noProof="0" dirty="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endParaRPr>
          </a:p>
        </p:txBody>
      </p:sp>
      <p:sp>
        <p:nvSpPr>
          <p:cNvPr id="2" name="Rectangle 2"/>
          <p:cNvSpPr>
            <a:spLocks noChangeArrowheads="1"/>
          </p:cNvSpPr>
          <p:nvPr/>
        </p:nvSpPr>
        <p:spPr bwMode="auto">
          <a:xfrm>
            <a:off x="2411760" y="29969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93870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
        <p:nvSpPr>
          <p:cNvPr id="8" name="Hexagon 62"/>
          <p:cNvSpPr/>
          <p:nvPr/>
        </p:nvSpPr>
        <p:spPr>
          <a:xfrm rot="5400000">
            <a:off x="727432" y="1141660"/>
            <a:ext cx="1581870" cy="1363682"/>
          </a:xfrm>
          <a:prstGeom prst="hexag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defRPr/>
            </a:pPr>
            <a:endParaRPr lang="en-US">
              <a:solidFill>
                <a:srgbClr val="FFFFFF"/>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13" name="Shape 2782">
            <a:extLst>
              <a:ext uri="{FF2B5EF4-FFF2-40B4-BE49-F238E27FC236}">
                <a16:creationId xmlns:a16="http://schemas.microsoft.com/office/drawing/2014/main" id="{2D7A61C8-1425-4EA1-BED5-595B6A5D0075}"/>
              </a:ext>
            </a:extLst>
          </p:cNvPr>
          <p:cNvSpPr/>
          <p:nvPr/>
        </p:nvSpPr>
        <p:spPr>
          <a:xfrm>
            <a:off x="1237550" y="1612291"/>
            <a:ext cx="561634" cy="496403"/>
          </a:xfrm>
          <a:custGeom>
            <a:avLst/>
            <a:gdLst/>
            <a:ahLst/>
            <a:cxnLst>
              <a:cxn ang="0">
                <a:pos x="wd2" y="hd2"/>
              </a:cxn>
              <a:cxn ang="5400000">
                <a:pos x="wd2" y="hd2"/>
              </a:cxn>
              <a:cxn ang="10800000">
                <a:pos x="wd2" y="hd2"/>
              </a:cxn>
              <a:cxn ang="16200000">
                <a:pos x="wd2" y="hd2"/>
              </a:cxn>
            </a:cxnLst>
            <a:rect l="0" t="0" r="r" b="b"/>
            <a:pathLst>
              <a:path w="20683" h="20545" extrusionOk="0">
                <a:moveTo>
                  <a:pt x="9621" y="9676"/>
                </a:moveTo>
                <a:cubicBezTo>
                  <a:pt x="9621" y="9676"/>
                  <a:pt x="9621" y="9675"/>
                  <a:pt x="9621" y="9675"/>
                </a:cubicBezTo>
                <a:lnTo>
                  <a:pt x="9620" y="9674"/>
                </a:lnTo>
                <a:cubicBezTo>
                  <a:pt x="9620" y="9674"/>
                  <a:pt x="9621" y="9676"/>
                  <a:pt x="9621" y="9676"/>
                </a:cubicBezTo>
                <a:close/>
                <a:moveTo>
                  <a:pt x="19582" y="1266"/>
                </a:moveTo>
                <a:cubicBezTo>
                  <a:pt x="18115" y="-422"/>
                  <a:pt x="15737" y="-422"/>
                  <a:pt x="14270" y="1266"/>
                </a:cubicBezTo>
                <a:lnTo>
                  <a:pt x="14934" y="2030"/>
                </a:lnTo>
                <a:cubicBezTo>
                  <a:pt x="16034" y="765"/>
                  <a:pt x="17818" y="765"/>
                  <a:pt x="18918" y="2030"/>
                </a:cubicBezTo>
                <a:cubicBezTo>
                  <a:pt x="20019" y="3297"/>
                  <a:pt x="20019" y="5351"/>
                  <a:pt x="18918" y="6618"/>
                </a:cubicBezTo>
                <a:lnTo>
                  <a:pt x="8956" y="17881"/>
                </a:lnTo>
                <a:lnTo>
                  <a:pt x="9621" y="18645"/>
                </a:lnTo>
                <a:lnTo>
                  <a:pt x="19582" y="7382"/>
                </a:lnTo>
                <a:cubicBezTo>
                  <a:pt x="21050" y="5693"/>
                  <a:pt x="21050" y="2955"/>
                  <a:pt x="19582" y="1266"/>
                </a:cubicBezTo>
                <a:moveTo>
                  <a:pt x="2315" y="17881"/>
                </a:moveTo>
                <a:cubicBezTo>
                  <a:pt x="481" y="15770"/>
                  <a:pt x="481" y="12551"/>
                  <a:pt x="2315" y="10439"/>
                </a:cubicBezTo>
                <a:cubicBezTo>
                  <a:pt x="2317" y="10437"/>
                  <a:pt x="2320" y="10434"/>
                  <a:pt x="2323" y="10431"/>
                </a:cubicBezTo>
                <a:lnTo>
                  <a:pt x="2323" y="10431"/>
                </a:lnTo>
                <a:lnTo>
                  <a:pt x="9289" y="2413"/>
                </a:lnTo>
                <a:cubicBezTo>
                  <a:pt x="9472" y="2201"/>
                  <a:pt x="9472" y="1859"/>
                  <a:pt x="9289" y="1648"/>
                </a:cubicBezTo>
                <a:cubicBezTo>
                  <a:pt x="9105" y="1437"/>
                  <a:pt x="8808" y="1437"/>
                  <a:pt x="8624" y="1648"/>
                </a:cubicBezTo>
                <a:lnTo>
                  <a:pt x="1651" y="9675"/>
                </a:lnTo>
                <a:cubicBezTo>
                  <a:pt x="-550" y="12208"/>
                  <a:pt x="-550" y="16112"/>
                  <a:pt x="1651" y="18645"/>
                </a:cubicBezTo>
                <a:cubicBezTo>
                  <a:pt x="3852" y="21178"/>
                  <a:pt x="7420" y="21178"/>
                  <a:pt x="9621" y="18645"/>
                </a:cubicBezTo>
                <a:lnTo>
                  <a:pt x="8948" y="17889"/>
                </a:lnTo>
                <a:cubicBezTo>
                  <a:pt x="7114" y="19991"/>
                  <a:pt x="4147" y="19989"/>
                  <a:pt x="2315" y="17881"/>
                </a:cubicBezTo>
                <a:moveTo>
                  <a:pt x="6300" y="13497"/>
                </a:moveTo>
                <a:cubicBezTo>
                  <a:pt x="7033" y="14341"/>
                  <a:pt x="8223" y="14341"/>
                  <a:pt x="8956" y="13497"/>
                </a:cubicBezTo>
                <a:lnTo>
                  <a:pt x="13937" y="7764"/>
                </a:lnTo>
                <a:cubicBezTo>
                  <a:pt x="14121" y="7553"/>
                  <a:pt x="14121" y="7211"/>
                  <a:pt x="13937" y="7000"/>
                </a:cubicBezTo>
                <a:cubicBezTo>
                  <a:pt x="13754" y="6789"/>
                  <a:pt x="13457" y="6789"/>
                  <a:pt x="13273" y="7000"/>
                </a:cubicBezTo>
                <a:lnTo>
                  <a:pt x="8292" y="12732"/>
                </a:lnTo>
                <a:cubicBezTo>
                  <a:pt x="7926" y="13155"/>
                  <a:pt x="7331" y="13155"/>
                  <a:pt x="6964" y="12732"/>
                </a:cubicBezTo>
                <a:cubicBezTo>
                  <a:pt x="6597" y="12310"/>
                  <a:pt x="6597" y="11626"/>
                  <a:pt x="6964" y="11204"/>
                </a:cubicBezTo>
                <a:lnTo>
                  <a:pt x="8292" y="9675"/>
                </a:lnTo>
                <a:lnTo>
                  <a:pt x="14934" y="2030"/>
                </a:lnTo>
                <a:lnTo>
                  <a:pt x="14270" y="1266"/>
                </a:lnTo>
                <a:lnTo>
                  <a:pt x="6300" y="10439"/>
                </a:lnTo>
                <a:cubicBezTo>
                  <a:pt x="5566" y="11284"/>
                  <a:pt x="5566" y="12653"/>
                  <a:pt x="6300" y="13497"/>
                </a:cubicBezTo>
              </a:path>
            </a:pathLst>
          </a:custGeom>
          <a:solidFill>
            <a:schemeClr val="tx1"/>
          </a:solidFill>
          <a:ln w="12700">
            <a:miter lim="400000"/>
          </a:ln>
        </p:spPr>
        <p:txBody>
          <a:bodyPr lIns="14284" tIns="14284" rIns="14284" bIns="14284" anchor="ctr"/>
          <a:lstStyle/>
          <a:p>
            <a:pPr defTabSz="171399">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125">
              <a:effectLst>
                <a:outerShdw blurRad="38100" dist="12700" dir="5400000" rotWithShape="0">
                  <a:srgbClr val="000000">
                    <a:alpha val="50000"/>
                  </a:srgbClr>
                </a:outerShdw>
              </a:effectLst>
              <a:latin typeface="Calibri" panose="020F0502020204030204" pitchFamily="34" charset="0"/>
              <a:ea typeface="微软雅黑" panose="020B0503020204020204" pitchFamily="34" charset="-122"/>
              <a:sym typeface="Calibri" panose="020F0502020204030204" pitchFamily="34" charset="0"/>
            </a:endParaRPr>
          </a:p>
        </p:txBody>
      </p:sp>
      <p:sp>
        <p:nvSpPr>
          <p:cNvPr id="15" name="TextBox 41"/>
          <p:cNvSpPr txBox="1"/>
          <p:nvPr/>
        </p:nvSpPr>
        <p:spPr>
          <a:xfrm>
            <a:off x="836526" y="2420888"/>
            <a:ext cx="7767922" cy="3231605"/>
          </a:xfrm>
          <a:prstGeom prst="rect">
            <a:avLst/>
          </a:prstGeom>
          <a:noFill/>
        </p:spPr>
        <p:txBody>
          <a:bodyPr wrap="square" lIns="60911" tIns="30456" rIns="60911" bIns="30456" rtlCol="0">
            <a:spAutoFit/>
          </a:bodyPr>
          <a:lstStyle/>
          <a:p>
            <a:pPr indent="457200" algn="just"/>
            <a:endParaRPr lang="en-US" altLang="zh-CN" dirty="0"/>
          </a:p>
          <a:p>
            <a:pPr indent="457200" algn="just"/>
            <a:r>
              <a:rPr lang="zh-CN" altLang="en-US" dirty="0"/>
              <a:t>有限域</a:t>
            </a:r>
            <a:r>
              <a:rPr lang="en-US" altLang="zh-CN" dirty="0" smtClean="0"/>
              <a:t>GF(</a:t>
            </a:r>
            <a:r>
              <a:rPr lang="en-US" altLang="zh-CN" dirty="0"/>
              <a:t>2</a:t>
            </a:r>
            <a:r>
              <a:rPr lang="en-US" altLang="zh-CN" baseline="30000" dirty="0"/>
              <a:t>n</a:t>
            </a:r>
            <a:r>
              <a:rPr lang="en-US" altLang="zh-CN" dirty="0" smtClean="0"/>
              <a:t>)</a:t>
            </a:r>
            <a:r>
              <a:rPr lang="zh-CN" altLang="en-US" dirty="0" smtClean="0"/>
              <a:t>有</a:t>
            </a:r>
            <a:r>
              <a:rPr lang="en-US" altLang="zh-CN" dirty="0" smtClean="0"/>
              <a:t>2</a:t>
            </a:r>
            <a:r>
              <a:rPr lang="en-US" altLang="zh-CN" baseline="30000" dirty="0" smtClean="0"/>
              <a:t>n</a:t>
            </a:r>
            <a:r>
              <a:rPr lang="zh-CN" altLang="en-US" dirty="0" smtClean="0"/>
              <a:t>个</a:t>
            </a:r>
            <a:r>
              <a:rPr lang="zh-CN" altLang="en-US" dirty="0"/>
              <a:t>不同的元素，记为</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a:t>
            </a:r>
            <a:r>
              <a:rPr lang="zh-CN" altLang="en-US" dirty="0" smtClean="0"/>
              <a:t>、</a:t>
            </a:r>
            <a:r>
              <a:rPr lang="en-US" altLang="zh-CN" dirty="0"/>
              <a:t>2</a:t>
            </a:r>
            <a:r>
              <a:rPr lang="en-US" altLang="zh-CN" baseline="30000" dirty="0"/>
              <a:t>n</a:t>
            </a:r>
            <a:r>
              <a:rPr lang="en-US" altLang="zh-CN" dirty="0" smtClean="0"/>
              <a:t>-1</a:t>
            </a:r>
            <a:r>
              <a:rPr lang="zh-CN" altLang="en-US" dirty="0"/>
              <a:t>，这些元素可以由某个元素的乘积生成，该元素称为该有限域的</a:t>
            </a:r>
            <a:r>
              <a:rPr lang="zh-CN" altLang="en-US" dirty="0">
                <a:solidFill>
                  <a:srgbClr val="FF0000"/>
                </a:solidFill>
              </a:rPr>
              <a:t>生成元</a:t>
            </a:r>
            <a:r>
              <a:rPr lang="en-US" altLang="zh-CN" dirty="0" smtClean="0">
                <a:solidFill>
                  <a:srgbClr val="FF0000"/>
                </a:solidFill>
              </a:rPr>
              <a:t>g</a:t>
            </a:r>
            <a:r>
              <a:rPr lang="zh-CN" altLang="en-US" dirty="0" smtClean="0"/>
              <a:t>，即</a:t>
            </a:r>
            <a:r>
              <a:rPr lang="zh-CN" altLang="en-US" dirty="0"/>
              <a:t>对于</a:t>
            </a:r>
            <a:r>
              <a:rPr lang="zh-CN" altLang="en-US" dirty="0" smtClean="0"/>
              <a:t>域中</a:t>
            </a:r>
            <a:r>
              <a:rPr lang="zh-CN" altLang="en-US" dirty="0"/>
              <a:t>的任意元素</a:t>
            </a:r>
            <a:r>
              <a:rPr lang="en-US" altLang="zh-CN" dirty="0"/>
              <a:t>a</a:t>
            </a:r>
            <a:r>
              <a:rPr lang="zh-CN" altLang="en-US" dirty="0"/>
              <a:t>，都存在一个</a:t>
            </a:r>
            <a:r>
              <a:rPr lang="en-US" altLang="zh-CN" dirty="0"/>
              <a:t>k</a:t>
            </a:r>
            <a:r>
              <a:rPr lang="zh-CN" altLang="en-US" dirty="0"/>
              <a:t>，使得</a:t>
            </a:r>
            <a:r>
              <a:rPr lang="en-US" altLang="zh-CN" dirty="0" smtClean="0"/>
              <a:t>a=</a:t>
            </a:r>
            <a:r>
              <a:rPr lang="en-US" altLang="zh-CN" dirty="0" err="1" smtClean="0"/>
              <a:t>g</a:t>
            </a:r>
            <a:r>
              <a:rPr lang="en-US" altLang="zh-CN" baseline="30000" dirty="0" err="1" smtClean="0"/>
              <a:t>k</a:t>
            </a:r>
            <a:endParaRPr lang="en-US" altLang="zh-CN" baseline="30000" dirty="0"/>
          </a:p>
          <a:p>
            <a:pPr indent="457200" algn="just"/>
            <a:endParaRPr lang="en-US" altLang="zh-CN" baseline="30000" dirty="0" smtClean="0"/>
          </a:p>
          <a:p>
            <a:pPr indent="457200" algn="just"/>
            <a:r>
              <a:rPr lang="zh-CN" altLang="zh-CN" dirty="0"/>
              <a:t>在有限域</a:t>
            </a:r>
            <a:r>
              <a:rPr lang="en-US" altLang="zh-CN" dirty="0"/>
              <a:t>GF(2</a:t>
            </a:r>
            <a:r>
              <a:rPr lang="en-US" altLang="zh-CN" baseline="30000" dirty="0"/>
              <a:t>n</a:t>
            </a:r>
            <a:r>
              <a:rPr lang="en-US" altLang="zh-CN" dirty="0"/>
              <a:t>)</a:t>
            </a:r>
            <a:r>
              <a:rPr lang="zh-CN" altLang="zh-CN" dirty="0"/>
              <a:t>上，可以通过涉及有限域的基元</a:t>
            </a:r>
            <a:r>
              <a:rPr lang="en-US" altLang="zh-CN" dirty="0"/>
              <a:t>𝑥</a:t>
            </a:r>
            <a:r>
              <a:rPr lang="zh-CN" altLang="zh-CN" dirty="0"/>
              <a:t>的多项式对应于有限域的元素，</a:t>
            </a:r>
            <a:r>
              <a:rPr lang="zh-CN" altLang="zh-CN" dirty="0" smtClean="0"/>
              <a:t>例如</a:t>
            </a:r>
            <a:r>
              <a:rPr lang="zh-CN" altLang="zh-CN" dirty="0"/>
              <a:t>有限域</a:t>
            </a:r>
            <a:r>
              <a:rPr lang="en-US" altLang="zh-CN" dirty="0"/>
              <a:t>GF(2</a:t>
            </a:r>
            <a:r>
              <a:rPr lang="en-US" altLang="zh-CN" baseline="30000" dirty="0"/>
              <a:t>4</a:t>
            </a:r>
            <a:r>
              <a:rPr lang="en-US" altLang="zh-CN" dirty="0"/>
              <a:t>)</a:t>
            </a:r>
            <a:r>
              <a:rPr lang="zh-CN" altLang="zh-CN" dirty="0" smtClean="0"/>
              <a:t>的</a:t>
            </a:r>
            <a:r>
              <a:rPr lang="zh-CN" altLang="en-US" dirty="0" smtClean="0"/>
              <a:t>一个</a:t>
            </a:r>
            <a:r>
              <a:rPr lang="zh-CN" altLang="zh-CN" dirty="0" smtClean="0"/>
              <a:t>元素</a:t>
            </a:r>
            <a:r>
              <a:rPr lang="en-US" altLang="zh-CN" dirty="0" smtClean="0"/>
              <a:t>15--&gt;</a:t>
            </a:r>
            <a:r>
              <a:rPr lang="zh-CN" altLang="en-US" dirty="0" smtClean="0"/>
              <a:t>二进制</a:t>
            </a:r>
            <a:r>
              <a:rPr lang="en-US" altLang="zh-CN" dirty="0" smtClean="0"/>
              <a:t>1111--&gt;</a:t>
            </a:r>
            <a:r>
              <a:rPr lang="en-US" altLang="zh-CN" dirty="0"/>
              <a:t> 𝑥</a:t>
            </a:r>
            <a:r>
              <a:rPr lang="en-US" altLang="zh-CN" baseline="30000" dirty="0"/>
              <a:t>3</a:t>
            </a:r>
            <a:r>
              <a:rPr lang="en-US" altLang="zh-CN" dirty="0"/>
              <a:t> + 𝑥</a:t>
            </a:r>
            <a:r>
              <a:rPr lang="en-US" altLang="zh-CN" baseline="30000" dirty="0"/>
              <a:t>2</a:t>
            </a:r>
            <a:r>
              <a:rPr lang="en-US" altLang="zh-CN" dirty="0"/>
              <a:t> </a:t>
            </a:r>
            <a:r>
              <a:rPr lang="en-US" altLang="zh-CN" dirty="0" smtClean="0"/>
              <a:t>+</a:t>
            </a:r>
            <a:r>
              <a:rPr lang="en-US" altLang="zh-CN" dirty="0"/>
              <a:t> 𝑥 </a:t>
            </a:r>
            <a:r>
              <a:rPr lang="en-US" altLang="zh-CN" dirty="0" smtClean="0"/>
              <a:t>+1</a:t>
            </a:r>
            <a:r>
              <a:rPr lang="zh-CN" altLang="en-US" dirty="0" smtClean="0"/>
              <a:t>。</a:t>
            </a:r>
            <a:endParaRPr lang="en-US" altLang="zh-CN" dirty="0" smtClean="0"/>
          </a:p>
          <a:p>
            <a:pPr indent="457200" algn="just"/>
            <a:r>
              <a:rPr lang="en-US" altLang="zh-CN" dirty="0" smtClean="0"/>
              <a:t>GF(2</a:t>
            </a:r>
            <a:r>
              <a:rPr lang="en-US" altLang="zh-CN" baseline="30000" dirty="0" smtClean="0"/>
              <a:t>4</a:t>
            </a:r>
            <a:r>
              <a:rPr lang="en-US" altLang="zh-CN" dirty="0" smtClean="0"/>
              <a:t>)</a:t>
            </a:r>
            <a:r>
              <a:rPr lang="zh-CN" altLang="en-US" dirty="0" smtClean="0"/>
              <a:t>的元素可以表示为</a:t>
            </a:r>
            <a:r>
              <a:rPr lang="en-US" altLang="zh-CN" dirty="0" smtClean="0"/>
              <a:t>16</a:t>
            </a:r>
            <a:r>
              <a:rPr lang="zh-CN" altLang="en-US" dirty="0" smtClean="0"/>
              <a:t>个多项式：</a:t>
            </a:r>
            <a:endParaRPr lang="en-US" altLang="zh-CN" dirty="0" smtClean="0"/>
          </a:p>
          <a:p>
            <a:pPr indent="457200" algn="just"/>
            <a:endParaRPr lang="en-US" altLang="zh-CN" dirty="0" smtClean="0"/>
          </a:p>
          <a:p>
            <a:pPr indent="457200" algn="just"/>
            <a:endParaRPr lang="en-US" altLang="zh-CN" dirty="0"/>
          </a:p>
          <a:p>
            <a:pPr indent="457200" algn="just"/>
            <a:endParaRPr lang="en-US" altLang="zh-CN" dirty="0" smtClean="0"/>
          </a:p>
          <a:p>
            <a:pPr indent="457200" algn="just"/>
            <a:endParaRPr lang="en-GB" altLang="zh-CN" sz="1400" dirty="0">
              <a:solidFill>
                <a:schemeClr val="tx2">
                  <a:lumMod val="60000"/>
                  <a:lumOff val="40000"/>
                </a:schemeClr>
              </a:solidFill>
              <a:latin typeface="微软雅黑" panose="020B0503020204020204" pitchFamily="34" charset="-122"/>
              <a:ea typeface="微软雅黑" panose="020B0503020204020204" pitchFamily="34" charset="-122"/>
              <a:cs typeface="+mn-ea"/>
              <a:sym typeface="+mn-lt"/>
            </a:endParaRPr>
          </a:p>
        </p:txBody>
      </p:sp>
      <p:pic>
        <p:nvPicPr>
          <p:cNvPr id="1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9">
            <a:extLst>
              <a:ext uri="{FF2B5EF4-FFF2-40B4-BE49-F238E27FC236}">
                <a16:creationId xmlns:a16="http://schemas.microsoft.com/office/drawing/2014/main" id="{E0B1F243-186C-404B-A5FB-4BF7B9817DE9}"/>
              </a:ext>
            </a:extLst>
          </p:cNvPr>
          <p:cNvSpPr txBox="1"/>
          <p:nvPr/>
        </p:nvSpPr>
        <p:spPr>
          <a:xfrm>
            <a:off x="3099946" y="1555376"/>
            <a:ext cx="3392275" cy="461665"/>
          </a:xfrm>
          <a:prstGeom prst="rect">
            <a:avLst/>
          </a:prstGeom>
          <a:noFill/>
        </p:spPr>
        <p:txBody>
          <a:bodyPr wrap="none" rtlCol="0">
            <a:spAutoFit/>
          </a:bodyPr>
          <a:lstStyle/>
          <a:p>
            <a:pPr lvl="0" algn="ctr" defTabSz="685663">
              <a:defRPr/>
            </a:pPr>
            <a:r>
              <a:rPr lang="en-US" altLang="zh-CN" sz="2400" dirty="0"/>
              <a:t>GF(2</a:t>
            </a:r>
            <a:r>
              <a:rPr lang="en-US" altLang="zh-CN" sz="2400" baseline="30000" dirty="0"/>
              <a:t>n</a:t>
            </a:r>
            <a:r>
              <a:rPr lang="en-US" altLang="zh-CN" sz="2400" dirty="0"/>
              <a:t>)</a:t>
            </a:r>
            <a:r>
              <a:rPr kumimoji="0" lang="zh-CN" altLang="en-US" sz="2400" b="1" i="0" u="none" strike="noStrike" kern="1200" cap="none" spc="300" normalizeH="0" baseline="0" noProof="0" dirty="0" smtClean="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rPr>
              <a:t>有限域下的运算</a:t>
            </a:r>
            <a:endParaRPr kumimoji="0" lang="en-US" sz="2400" b="1" i="0" u="none" strike="noStrike" kern="1200" cap="none" spc="300" normalizeH="0" baseline="0" noProof="0" dirty="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endParaRPr>
          </a:p>
        </p:txBody>
      </p:sp>
      <p:sp>
        <p:nvSpPr>
          <p:cNvPr id="2" name="Rectangle 2"/>
          <p:cNvSpPr>
            <a:spLocks noChangeArrowheads="1"/>
          </p:cNvSpPr>
          <p:nvPr/>
        </p:nvSpPr>
        <p:spPr bwMode="auto">
          <a:xfrm>
            <a:off x="2411760" y="29969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a:picLocks noChangeAspect="1"/>
          </p:cNvPicPr>
          <p:nvPr/>
        </p:nvPicPr>
        <p:blipFill>
          <a:blip r:embed="rId5"/>
          <a:stretch>
            <a:fillRect/>
          </a:stretch>
        </p:blipFill>
        <p:spPr>
          <a:xfrm>
            <a:off x="3093476" y="4653136"/>
            <a:ext cx="3254022" cy="1158340"/>
          </a:xfrm>
          <a:prstGeom prst="rect">
            <a:avLst/>
          </a:prstGeom>
        </p:spPr>
      </p:pic>
    </p:spTree>
    <p:extLst>
      <p:ext uri="{BB962C8B-B14F-4D97-AF65-F5344CB8AC3E}">
        <p14:creationId xmlns:p14="http://schemas.microsoft.com/office/powerpoint/2010/main" val="67706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
        <p:nvSpPr>
          <p:cNvPr id="8" name="Hexagon 62"/>
          <p:cNvSpPr/>
          <p:nvPr/>
        </p:nvSpPr>
        <p:spPr>
          <a:xfrm rot="5400000">
            <a:off x="727432" y="1141660"/>
            <a:ext cx="1581870" cy="1363682"/>
          </a:xfrm>
          <a:prstGeom prst="hexag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66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微软雅黑" panose="020B0503020204020204" pitchFamily="34" charset="-122"/>
              <a:cs typeface="+mn-cs"/>
              <a:sym typeface="Calibri" panose="020F0502020204030204" pitchFamily="34" charset="0"/>
            </a:endParaRPr>
          </a:p>
        </p:txBody>
      </p:sp>
      <p:sp>
        <p:nvSpPr>
          <p:cNvPr id="13" name="Shape 2782">
            <a:extLst>
              <a:ext uri="{FF2B5EF4-FFF2-40B4-BE49-F238E27FC236}">
                <a16:creationId xmlns:a16="http://schemas.microsoft.com/office/drawing/2014/main" id="{2D7A61C8-1425-4EA1-BED5-595B6A5D0075}"/>
              </a:ext>
            </a:extLst>
          </p:cNvPr>
          <p:cNvSpPr/>
          <p:nvPr/>
        </p:nvSpPr>
        <p:spPr>
          <a:xfrm>
            <a:off x="1237550" y="1612291"/>
            <a:ext cx="561634" cy="496403"/>
          </a:xfrm>
          <a:custGeom>
            <a:avLst/>
            <a:gdLst/>
            <a:ahLst/>
            <a:cxnLst>
              <a:cxn ang="0">
                <a:pos x="wd2" y="hd2"/>
              </a:cxn>
              <a:cxn ang="5400000">
                <a:pos x="wd2" y="hd2"/>
              </a:cxn>
              <a:cxn ang="10800000">
                <a:pos x="wd2" y="hd2"/>
              </a:cxn>
              <a:cxn ang="16200000">
                <a:pos x="wd2" y="hd2"/>
              </a:cxn>
            </a:cxnLst>
            <a:rect l="0" t="0" r="r" b="b"/>
            <a:pathLst>
              <a:path w="20683" h="20545" extrusionOk="0">
                <a:moveTo>
                  <a:pt x="9621" y="9676"/>
                </a:moveTo>
                <a:cubicBezTo>
                  <a:pt x="9621" y="9676"/>
                  <a:pt x="9621" y="9675"/>
                  <a:pt x="9621" y="9675"/>
                </a:cubicBezTo>
                <a:lnTo>
                  <a:pt x="9620" y="9674"/>
                </a:lnTo>
                <a:cubicBezTo>
                  <a:pt x="9620" y="9674"/>
                  <a:pt x="9621" y="9676"/>
                  <a:pt x="9621" y="9676"/>
                </a:cubicBezTo>
                <a:close/>
                <a:moveTo>
                  <a:pt x="19582" y="1266"/>
                </a:moveTo>
                <a:cubicBezTo>
                  <a:pt x="18115" y="-422"/>
                  <a:pt x="15737" y="-422"/>
                  <a:pt x="14270" y="1266"/>
                </a:cubicBezTo>
                <a:lnTo>
                  <a:pt x="14934" y="2030"/>
                </a:lnTo>
                <a:cubicBezTo>
                  <a:pt x="16034" y="765"/>
                  <a:pt x="17818" y="765"/>
                  <a:pt x="18918" y="2030"/>
                </a:cubicBezTo>
                <a:cubicBezTo>
                  <a:pt x="20019" y="3297"/>
                  <a:pt x="20019" y="5351"/>
                  <a:pt x="18918" y="6618"/>
                </a:cubicBezTo>
                <a:lnTo>
                  <a:pt x="8956" y="17881"/>
                </a:lnTo>
                <a:lnTo>
                  <a:pt x="9621" y="18645"/>
                </a:lnTo>
                <a:lnTo>
                  <a:pt x="19582" y="7382"/>
                </a:lnTo>
                <a:cubicBezTo>
                  <a:pt x="21050" y="5693"/>
                  <a:pt x="21050" y="2955"/>
                  <a:pt x="19582" y="1266"/>
                </a:cubicBezTo>
                <a:moveTo>
                  <a:pt x="2315" y="17881"/>
                </a:moveTo>
                <a:cubicBezTo>
                  <a:pt x="481" y="15770"/>
                  <a:pt x="481" y="12551"/>
                  <a:pt x="2315" y="10439"/>
                </a:cubicBezTo>
                <a:cubicBezTo>
                  <a:pt x="2317" y="10437"/>
                  <a:pt x="2320" y="10434"/>
                  <a:pt x="2323" y="10431"/>
                </a:cubicBezTo>
                <a:lnTo>
                  <a:pt x="2323" y="10431"/>
                </a:lnTo>
                <a:lnTo>
                  <a:pt x="9289" y="2413"/>
                </a:lnTo>
                <a:cubicBezTo>
                  <a:pt x="9472" y="2201"/>
                  <a:pt x="9472" y="1859"/>
                  <a:pt x="9289" y="1648"/>
                </a:cubicBezTo>
                <a:cubicBezTo>
                  <a:pt x="9105" y="1437"/>
                  <a:pt x="8808" y="1437"/>
                  <a:pt x="8624" y="1648"/>
                </a:cubicBezTo>
                <a:lnTo>
                  <a:pt x="1651" y="9675"/>
                </a:lnTo>
                <a:cubicBezTo>
                  <a:pt x="-550" y="12208"/>
                  <a:pt x="-550" y="16112"/>
                  <a:pt x="1651" y="18645"/>
                </a:cubicBezTo>
                <a:cubicBezTo>
                  <a:pt x="3852" y="21178"/>
                  <a:pt x="7420" y="21178"/>
                  <a:pt x="9621" y="18645"/>
                </a:cubicBezTo>
                <a:lnTo>
                  <a:pt x="8948" y="17889"/>
                </a:lnTo>
                <a:cubicBezTo>
                  <a:pt x="7114" y="19991"/>
                  <a:pt x="4147" y="19989"/>
                  <a:pt x="2315" y="17881"/>
                </a:cubicBezTo>
                <a:moveTo>
                  <a:pt x="6300" y="13497"/>
                </a:moveTo>
                <a:cubicBezTo>
                  <a:pt x="7033" y="14341"/>
                  <a:pt x="8223" y="14341"/>
                  <a:pt x="8956" y="13497"/>
                </a:cubicBezTo>
                <a:lnTo>
                  <a:pt x="13937" y="7764"/>
                </a:lnTo>
                <a:cubicBezTo>
                  <a:pt x="14121" y="7553"/>
                  <a:pt x="14121" y="7211"/>
                  <a:pt x="13937" y="7000"/>
                </a:cubicBezTo>
                <a:cubicBezTo>
                  <a:pt x="13754" y="6789"/>
                  <a:pt x="13457" y="6789"/>
                  <a:pt x="13273" y="7000"/>
                </a:cubicBezTo>
                <a:lnTo>
                  <a:pt x="8292" y="12732"/>
                </a:lnTo>
                <a:cubicBezTo>
                  <a:pt x="7926" y="13155"/>
                  <a:pt x="7331" y="13155"/>
                  <a:pt x="6964" y="12732"/>
                </a:cubicBezTo>
                <a:cubicBezTo>
                  <a:pt x="6597" y="12310"/>
                  <a:pt x="6597" y="11626"/>
                  <a:pt x="6964" y="11204"/>
                </a:cubicBezTo>
                <a:lnTo>
                  <a:pt x="8292" y="9675"/>
                </a:lnTo>
                <a:lnTo>
                  <a:pt x="14934" y="2030"/>
                </a:lnTo>
                <a:lnTo>
                  <a:pt x="14270" y="1266"/>
                </a:lnTo>
                <a:lnTo>
                  <a:pt x="6300" y="10439"/>
                </a:lnTo>
                <a:cubicBezTo>
                  <a:pt x="5566" y="11284"/>
                  <a:pt x="5566" y="12653"/>
                  <a:pt x="6300" y="13497"/>
                </a:cubicBezTo>
              </a:path>
            </a:pathLst>
          </a:custGeom>
          <a:solidFill>
            <a:schemeClr val="tx1"/>
          </a:solidFill>
          <a:ln w="12700">
            <a:miter lim="400000"/>
          </a:ln>
        </p:spPr>
        <p:txBody>
          <a:bodyPr lIns="14284" tIns="14284" rIns="14284" bIns="14284" anchor="ctr"/>
          <a:lstStyle/>
          <a:p>
            <a:pPr marL="0" marR="0" lvl="0" indent="0" algn="l" defTabSz="171399"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125"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pitchFamily="34" charset="0"/>
              <a:ea typeface="微软雅黑" panose="020B0503020204020204" pitchFamily="34" charset="-122"/>
              <a:sym typeface="Calibri" panose="020F0502020204030204" pitchFamily="34" charset="0"/>
            </a:endParaRPr>
          </a:p>
        </p:txBody>
      </p:sp>
      <p:sp>
        <p:nvSpPr>
          <p:cNvPr id="15" name="TextBox 41"/>
          <p:cNvSpPr txBox="1"/>
          <p:nvPr/>
        </p:nvSpPr>
        <p:spPr>
          <a:xfrm>
            <a:off x="831055" y="2669365"/>
            <a:ext cx="7767922" cy="3385494"/>
          </a:xfrm>
          <a:prstGeom prst="rect">
            <a:avLst/>
          </a:prstGeom>
          <a:noFill/>
        </p:spPr>
        <p:txBody>
          <a:bodyPr wrap="square" lIns="60911" tIns="30456" rIns="60911" bIns="30456" rtlCol="0">
            <a:spAutoFit/>
          </a:bodyPr>
          <a:lstStyle/>
          <a:p>
            <a:pPr lvl="0" indent="457200" algn="just">
              <a:lnSpc>
                <a:spcPct val="150000"/>
              </a:lnSpc>
            </a:pPr>
            <a:r>
              <a:rPr lang="zh-CN" altLang="en-US" dirty="0">
                <a:solidFill>
                  <a:prstClr val="black"/>
                </a:solidFill>
              </a:rPr>
              <a:t>有限域</a:t>
            </a:r>
            <a:r>
              <a:rPr lang="en-US" altLang="zh-CN" dirty="0" smtClean="0">
                <a:solidFill>
                  <a:prstClr val="black"/>
                </a:solidFill>
              </a:rPr>
              <a:t>GF(</a:t>
            </a:r>
            <a:r>
              <a:rPr lang="en-US" altLang="zh-CN" dirty="0"/>
              <a:t>2</a:t>
            </a:r>
            <a:r>
              <a:rPr lang="en-US" altLang="zh-CN" baseline="30000" dirty="0"/>
              <a:t>n</a:t>
            </a:r>
            <a:r>
              <a:rPr lang="en-US" altLang="zh-CN" dirty="0" smtClean="0">
                <a:solidFill>
                  <a:prstClr val="black"/>
                </a:solidFill>
              </a:rPr>
              <a:t>)</a:t>
            </a:r>
            <a:r>
              <a:rPr lang="zh-CN" altLang="en-US" dirty="0">
                <a:solidFill>
                  <a:prstClr val="black"/>
                </a:solidFill>
              </a:rPr>
              <a:t>上的加法和减法采用异或来实现，乘法操作的步骤是先用两个元素对应的多项式相乘，乘积的结果再模上</a:t>
            </a:r>
            <a:r>
              <a:rPr lang="zh-CN" altLang="en-US" dirty="0" smtClean="0">
                <a:solidFill>
                  <a:prstClr val="black"/>
                </a:solidFill>
              </a:rPr>
              <a:t>本原多项式</a:t>
            </a:r>
            <a:r>
              <a:rPr lang="en-US" altLang="zh-CN" dirty="0" smtClean="0">
                <a:solidFill>
                  <a:prstClr val="black"/>
                </a:solidFill>
              </a:rPr>
              <a:t>(</a:t>
            </a:r>
            <a:r>
              <a:rPr lang="zh-CN" altLang="en-US" dirty="0" smtClean="0">
                <a:solidFill>
                  <a:srgbClr val="FF0000"/>
                </a:solidFill>
              </a:rPr>
              <a:t>按位异或</a:t>
            </a:r>
            <a:r>
              <a:rPr lang="en-US" altLang="zh-CN" dirty="0" smtClean="0">
                <a:solidFill>
                  <a:prstClr val="black"/>
                </a:solidFill>
              </a:rPr>
              <a:t>)</a:t>
            </a:r>
            <a:r>
              <a:rPr lang="zh-CN" altLang="en-US" dirty="0" smtClean="0">
                <a:solidFill>
                  <a:prstClr val="black"/>
                </a:solidFill>
              </a:rPr>
              <a:t>，</a:t>
            </a:r>
            <a:r>
              <a:rPr lang="zh-CN" altLang="en-US" dirty="0">
                <a:solidFill>
                  <a:prstClr val="black"/>
                </a:solidFill>
              </a:rPr>
              <a:t>所得结果即为两者再有限域</a:t>
            </a:r>
            <a:r>
              <a:rPr lang="en-US" altLang="zh-CN" dirty="0" smtClean="0">
                <a:solidFill>
                  <a:prstClr val="black"/>
                </a:solidFill>
              </a:rPr>
              <a:t>GF(</a:t>
            </a:r>
            <a:r>
              <a:rPr lang="en-US" altLang="zh-CN" dirty="0"/>
              <a:t>2</a:t>
            </a:r>
            <a:r>
              <a:rPr lang="en-US" altLang="zh-CN" baseline="30000" dirty="0"/>
              <a:t>n</a:t>
            </a:r>
            <a:r>
              <a:rPr lang="en-US" altLang="zh-CN" dirty="0" smtClean="0">
                <a:solidFill>
                  <a:prstClr val="black"/>
                </a:solidFill>
              </a:rPr>
              <a:t>)</a:t>
            </a:r>
            <a:r>
              <a:rPr lang="zh-CN" altLang="en-US" dirty="0">
                <a:solidFill>
                  <a:prstClr val="black"/>
                </a:solidFill>
              </a:rPr>
              <a:t>上运算的结果。下面是</a:t>
            </a:r>
            <a:r>
              <a:rPr lang="en-US" altLang="zh-CN" dirty="0" smtClean="0">
                <a:solidFill>
                  <a:prstClr val="black"/>
                </a:solidFill>
              </a:rPr>
              <a:t>GF(</a:t>
            </a:r>
            <a:r>
              <a:rPr lang="en-US" altLang="zh-CN" dirty="0"/>
              <a:t>2</a:t>
            </a:r>
            <a:r>
              <a:rPr lang="en-US" altLang="zh-CN" baseline="30000" dirty="0"/>
              <a:t>4</a:t>
            </a:r>
            <a:r>
              <a:rPr lang="en-US" altLang="zh-CN" dirty="0" smtClean="0">
                <a:solidFill>
                  <a:prstClr val="black"/>
                </a:solidFill>
              </a:rPr>
              <a:t>)</a:t>
            </a:r>
            <a:r>
              <a:rPr lang="zh-CN" altLang="en-US" dirty="0">
                <a:solidFill>
                  <a:prstClr val="black"/>
                </a:solidFill>
              </a:rPr>
              <a:t>中的一些算术运算示例，使用的本原多项式</a:t>
            </a:r>
            <a:r>
              <a:rPr lang="en-US" altLang="zh-CN" dirty="0">
                <a:solidFill>
                  <a:prstClr val="black"/>
                </a:solidFill>
              </a:rPr>
              <a:t>f(x)</a:t>
            </a:r>
            <a:r>
              <a:rPr lang="zh-CN" altLang="en-US" dirty="0" smtClean="0">
                <a:solidFill>
                  <a:prstClr val="black"/>
                </a:solidFill>
              </a:rPr>
              <a:t>为</a:t>
            </a:r>
            <a:r>
              <a:rPr lang="en-US" altLang="zh-CN" dirty="0"/>
              <a:t>𝑥</a:t>
            </a:r>
            <a:r>
              <a:rPr lang="en-US" altLang="zh-CN" baseline="30000" dirty="0"/>
              <a:t>4</a:t>
            </a:r>
            <a:r>
              <a:rPr lang="en-US" altLang="zh-CN" dirty="0"/>
              <a:t> </a:t>
            </a:r>
            <a:r>
              <a:rPr lang="en-US" altLang="zh-CN" dirty="0" smtClean="0">
                <a:solidFill>
                  <a:prstClr val="black"/>
                </a:solidFill>
              </a:rPr>
              <a:t>+</a:t>
            </a:r>
            <a:r>
              <a:rPr lang="zh-CN" altLang="en-US" dirty="0">
                <a:solidFill>
                  <a:prstClr val="black"/>
                </a:solidFill>
              </a:rPr>
              <a:t>𝑥 </a:t>
            </a:r>
            <a:r>
              <a:rPr lang="en-US" altLang="zh-CN" dirty="0">
                <a:solidFill>
                  <a:prstClr val="black"/>
                </a:solidFill>
              </a:rPr>
              <a:t>+1</a:t>
            </a:r>
            <a:r>
              <a:rPr lang="zh-CN" altLang="en-US" dirty="0">
                <a:solidFill>
                  <a:prstClr val="black"/>
                </a:solidFill>
              </a:rPr>
              <a:t>。</a:t>
            </a:r>
          </a:p>
          <a:p>
            <a:pPr indent="457200">
              <a:lnSpc>
                <a:spcPct val="150000"/>
              </a:lnSpc>
            </a:pPr>
            <a:r>
              <a:rPr lang="zh-CN" altLang="zh-CN" dirty="0"/>
              <a:t>①加法：</a:t>
            </a:r>
            <a:r>
              <a:rPr lang="en-US" altLang="zh-CN" dirty="0"/>
              <a:t>(𝑥</a:t>
            </a:r>
            <a:r>
              <a:rPr lang="en-US" altLang="zh-CN" baseline="30000" dirty="0"/>
              <a:t>3</a:t>
            </a:r>
            <a:r>
              <a:rPr lang="en-US" altLang="zh-CN" dirty="0"/>
              <a:t> + 𝑥</a:t>
            </a:r>
            <a:r>
              <a:rPr lang="en-US" altLang="zh-CN" baseline="30000" dirty="0"/>
              <a:t>2</a:t>
            </a:r>
            <a:r>
              <a:rPr lang="en-US" altLang="zh-CN" dirty="0"/>
              <a:t> +1)+( 𝑥</a:t>
            </a:r>
            <a:r>
              <a:rPr lang="en-US" altLang="zh-CN" baseline="30000" dirty="0"/>
              <a:t>2</a:t>
            </a:r>
            <a:r>
              <a:rPr lang="en-US" altLang="zh-CN" dirty="0"/>
              <a:t> +𝑥 +1) = 𝑥</a:t>
            </a:r>
            <a:r>
              <a:rPr lang="en-US" altLang="zh-CN" baseline="30000" dirty="0"/>
              <a:t>3</a:t>
            </a:r>
            <a:r>
              <a:rPr lang="en-US" altLang="zh-CN" dirty="0"/>
              <a:t> +𝑥</a:t>
            </a:r>
            <a:r>
              <a:rPr lang="zh-CN" altLang="zh-CN" dirty="0"/>
              <a:t>；</a:t>
            </a:r>
          </a:p>
          <a:p>
            <a:pPr indent="457200">
              <a:lnSpc>
                <a:spcPct val="150000"/>
              </a:lnSpc>
            </a:pPr>
            <a:r>
              <a:rPr lang="zh-CN" altLang="zh-CN" dirty="0"/>
              <a:t>②减法：</a:t>
            </a:r>
            <a:r>
              <a:rPr lang="en-US" altLang="zh-CN" dirty="0"/>
              <a:t>(𝑥</a:t>
            </a:r>
            <a:r>
              <a:rPr lang="en-US" altLang="zh-CN" baseline="30000" dirty="0"/>
              <a:t>3</a:t>
            </a:r>
            <a:r>
              <a:rPr lang="en-US" altLang="zh-CN" dirty="0"/>
              <a:t> + 𝑥</a:t>
            </a:r>
            <a:r>
              <a:rPr lang="en-US" altLang="zh-CN" baseline="30000" dirty="0"/>
              <a:t>2</a:t>
            </a:r>
            <a:r>
              <a:rPr lang="en-US" altLang="zh-CN" dirty="0"/>
              <a:t> +1)−( 𝑥</a:t>
            </a:r>
            <a:r>
              <a:rPr lang="en-US" altLang="zh-CN" baseline="30000" dirty="0"/>
              <a:t>2</a:t>
            </a:r>
            <a:r>
              <a:rPr lang="en-US" altLang="zh-CN" dirty="0"/>
              <a:t> +𝑥 +1) = 𝑥</a:t>
            </a:r>
            <a:r>
              <a:rPr lang="en-US" altLang="zh-CN" baseline="30000" dirty="0"/>
              <a:t>3</a:t>
            </a:r>
            <a:r>
              <a:rPr lang="en-US" altLang="zh-CN" dirty="0"/>
              <a:t> +𝑥</a:t>
            </a:r>
            <a:r>
              <a:rPr lang="zh-CN" altLang="zh-CN" dirty="0"/>
              <a:t>；</a:t>
            </a:r>
          </a:p>
          <a:p>
            <a:pPr indent="457200">
              <a:lnSpc>
                <a:spcPct val="150000"/>
              </a:lnSpc>
            </a:pPr>
            <a:r>
              <a:rPr lang="zh-CN" altLang="zh-CN" dirty="0"/>
              <a:t>③乘法：</a:t>
            </a:r>
            <a:r>
              <a:rPr lang="en-US" altLang="zh-CN" dirty="0"/>
              <a:t>(𝑥</a:t>
            </a:r>
            <a:r>
              <a:rPr lang="en-US" altLang="zh-CN" baseline="30000" dirty="0"/>
              <a:t>3</a:t>
            </a:r>
            <a:r>
              <a:rPr lang="en-US" altLang="zh-CN" dirty="0"/>
              <a:t> + 𝑥</a:t>
            </a:r>
            <a:r>
              <a:rPr lang="en-US" altLang="zh-CN" baseline="30000" dirty="0"/>
              <a:t>2</a:t>
            </a:r>
            <a:r>
              <a:rPr lang="en-US" altLang="zh-CN" dirty="0"/>
              <a:t> +1)</a:t>
            </a:r>
            <a:r>
              <a:rPr lang="zh-CN" altLang="zh-CN" dirty="0"/>
              <a:t>·</a:t>
            </a:r>
            <a:r>
              <a:rPr lang="en-US" altLang="zh-CN" dirty="0"/>
              <a:t>(𝑥</a:t>
            </a:r>
            <a:r>
              <a:rPr lang="en-US" altLang="zh-CN" baseline="30000" dirty="0"/>
              <a:t>2</a:t>
            </a:r>
            <a:r>
              <a:rPr lang="en-US" altLang="zh-CN" dirty="0"/>
              <a:t> +𝑥 +1) = (𝑥</a:t>
            </a:r>
            <a:r>
              <a:rPr lang="en-US" altLang="zh-CN" baseline="30000" dirty="0"/>
              <a:t>5</a:t>
            </a:r>
            <a:r>
              <a:rPr lang="en-US" altLang="zh-CN" dirty="0"/>
              <a:t> +𝑥 +1) </a:t>
            </a:r>
            <a:r>
              <a:rPr lang="en-US" altLang="zh-CN" dirty="0">
                <a:solidFill>
                  <a:srgbClr val="FF0000"/>
                </a:solidFill>
              </a:rPr>
              <a:t>𝑚𝑜𝑑 </a:t>
            </a:r>
            <a:r>
              <a:rPr lang="en-US" altLang="zh-CN" dirty="0"/>
              <a:t>(𝑥</a:t>
            </a:r>
            <a:r>
              <a:rPr lang="en-US" altLang="zh-CN" baseline="30000" dirty="0"/>
              <a:t>4</a:t>
            </a:r>
            <a:r>
              <a:rPr lang="en-US" altLang="zh-CN" dirty="0"/>
              <a:t> +𝑥 +1) =𝑥</a:t>
            </a:r>
            <a:r>
              <a:rPr lang="en-US" altLang="zh-CN" baseline="30000" dirty="0"/>
              <a:t>2</a:t>
            </a:r>
            <a:r>
              <a:rPr lang="en-US" altLang="zh-CN" dirty="0"/>
              <a:t> +1</a:t>
            </a:r>
            <a:r>
              <a:rPr lang="zh-CN" altLang="zh-CN" dirty="0"/>
              <a:t>；</a:t>
            </a:r>
          </a:p>
          <a:p>
            <a:pPr indent="457200">
              <a:lnSpc>
                <a:spcPct val="150000"/>
              </a:lnSpc>
            </a:pPr>
            <a:r>
              <a:rPr lang="zh-CN" altLang="zh-CN" dirty="0"/>
              <a:t>④求逆：</a:t>
            </a:r>
            <a:r>
              <a:rPr lang="en-US" altLang="zh-CN" dirty="0"/>
              <a:t>(𝑥</a:t>
            </a:r>
            <a:r>
              <a:rPr lang="en-US" altLang="zh-CN" baseline="30000" dirty="0"/>
              <a:t>3</a:t>
            </a:r>
            <a:r>
              <a:rPr lang="en-US" altLang="zh-CN" dirty="0"/>
              <a:t> +𝑥</a:t>
            </a:r>
            <a:r>
              <a:rPr lang="en-US" altLang="zh-CN" baseline="30000" dirty="0"/>
              <a:t>2</a:t>
            </a:r>
            <a:r>
              <a:rPr lang="en-US" altLang="zh-CN" dirty="0"/>
              <a:t> +1)</a:t>
            </a:r>
            <a:r>
              <a:rPr lang="en-US" altLang="zh-CN" baseline="30000" dirty="0"/>
              <a:t>-1</a:t>
            </a:r>
            <a:r>
              <a:rPr lang="en-US" altLang="zh-CN" dirty="0"/>
              <a:t> = 𝑥</a:t>
            </a:r>
            <a:r>
              <a:rPr lang="en-US" altLang="zh-CN" baseline="30000" dirty="0"/>
              <a:t>2</a:t>
            </a:r>
            <a:r>
              <a:rPr lang="zh-CN" altLang="zh-CN" dirty="0"/>
              <a:t>，因为</a:t>
            </a:r>
            <a:r>
              <a:rPr lang="en-US" altLang="zh-CN" dirty="0"/>
              <a:t>(𝑥</a:t>
            </a:r>
            <a:r>
              <a:rPr lang="en-US" altLang="zh-CN" baseline="30000" dirty="0"/>
              <a:t>3</a:t>
            </a:r>
            <a:r>
              <a:rPr lang="en-US" altLang="zh-CN" dirty="0"/>
              <a:t> + 𝑥</a:t>
            </a:r>
            <a:r>
              <a:rPr lang="en-US" altLang="zh-CN" baseline="30000" dirty="0"/>
              <a:t>2</a:t>
            </a:r>
            <a:r>
              <a:rPr lang="en-US" altLang="zh-CN" dirty="0"/>
              <a:t> +1)</a:t>
            </a:r>
            <a:r>
              <a:rPr lang="zh-CN" altLang="zh-CN" dirty="0"/>
              <a:t>·</a:t>
            </a:r>
            <a:r>
              <a:rPr lang="en-US" altLang="zh-CN" dirty="0"/>
              <a:t>𝑥</a:t>
            </a:r>
            <a:r>
              <a:rPr lang="en-US" altLang="zh-CN" baseline="30000" dirty="0"/>
              <a:t>2</a:t>
            </a:r>
            <a:r>
              <a:rPr lang="en-US" altLang="zh-CN" dirty="0"/>
              <a:t> 𝑚𝑜𝑑 (𝑥</a:t>
            </a:r>
            <a:r>
              <a:rPr lang="en-US" altLang="zh-CN" baseline="30000" dirty="0"/>
              <a:t>4</a:t>
            </a:r>
            <a:r>
              <a:rPr lang="en-US" altLang="zh-CN" dirty="0"/>
              <a:t>+𝑥 +1) = 1</a:t>
            </a:r>
            <a:r>
              <a:rPr lang="zh-CN" altLang="zh-CN" dirty="0"/>
              <a:t>。</a:t>
            </a:r>
          </a:p>
        </p:txBody>
      </p:sp>
      <p:pic>
        <p:nvPicPr>
          <p:cNvPr id="1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9">
            <a:extLst>
              <a:ext uri="{FF2B5EF4-FFF2-40B4-BE49-F238E27FC236}">
                <a16:creationId xmlns:a16="http://schemas.microsoft.com/office/drawing/2014/main" id="{E0B1F243-186C-404B-A5FB-4BF7B9817DE9}"/>
              </a:ext>
            </a:extLst>
          </p:cNvPr>
          <p:cNvSpPr txBox="1"/>
          <p:nvPr/>
        </p:nvSpPr>
        <p:spPr>
          <a:xfrm>
            <a:off x="3099946" y="1555376"/>
            <a:ext cx="3392275" cy="461665"/>
          </a:xfrm>
          <a:prstGeom prst="rect">
            <a:avLst/>
          </a:prstGeom>
          <a:noFill/>
        </p:spPr>
        <p:txBody>
          <a:bodyPr wrap="none" rtlCol="0">
            <a:spAutoFit/>
          </a:bodyPr>
          <a:lstStyle/>
          <a:p>
            <a:pPr lvl="0" algn="ctr" defTabSz="685663">
              <a:defRPr/>
            </a:pPr>
            <a:r>
              <a:rPr lang="en-US" altLang="zh-CN" sz="2400" dirty="0"/>
              <a:t>GF(2</a:t>
            </a:r>
            <a:r>
              <a:rPr lang="en-US" altLang="zh-CN" sz="2400" baseline="30000" dirty="0"/>
              <a:t>n</a:t>
            </a:r>
            <a:r>
              <a:rPr lang="en-US" altLang="zh-CN" sz="2400" dirty="0"/>
              <a:t>)</a:t>
            </a:r>
            <a:r>
              <a:rPr kumimoji="0" lang="zh-CN" altLang="en-US" sz="2400" b="1" i="0" u="none" strike="noStrike" kern="1200" cap="none" spc="300" normalizeH="0" baseline="0" noProof="0" dirty="0" smtClean="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rPr>
              <a:t>有限域下的运算</a:t>
            </a:r>
            <a:endParaRPr kumimoji="0" lang="en-US" sz="2400" b="1" i="0" u="none" strike="noStrike" kern="1200" cap="none" spc="300" normalizeH="0" baseline="0" noProof="0" dirty="0">
              <a:ln>
                <a:noFill/>
              </a:ln>
              <a:solidFill>
                <a:srgbClr val="000000"/>
              </a:solidFill>
              <a:effectLst/>
              <a:uLnTx/>
              <a:uFillTx/>
              <a:latin typeface="Calibri" panose="020F0502020204030204" pitchFamily="34" charset="0"/>
              <a:ea typeface="微软雅黑" panose="020B0503020204020204" pitchFamily="34" charset="-122"/>
              <a:cs typeface="Lato Black" charset="0"/>
              <a:sym typeface="Calibri" panose="020F0502020204030204" pitchFamily="34" charset="0"/>
            </a:endParaRPr>
          </a:p>
        </p:txBody>
      </p:sp>
      <p:sp>
        <p:nvSpPr>
          <p:cNvPr id="2" name="Rectangle 2"/>
          <p:cNvSpPr>
            <a:spLocks noChangeArrowheads="1"/>
          </p:cNvSpPr>
          <p:nvPr/>
        </p:nvSpPr>
        <p:spPr bwMode="auto">
          <a:xfrm>
            <a:off x="2411760" y="29969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9024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2279"/>
            <a:ext cx="9144000" cy="945214"/>
            <a:chOff x="0" y="-22279"/>
            <a:chExt cx="9144000" cy="945214"/>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gr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8" name="图片 7">
            <a:extLst>
              <a:ext uri="{FF2B5EF4-FFF2-40B4-BE49-F238E27FC236}">
                <a16:creationId xmlns:a16="http://schemas.microsoft.com/office/drawing/2014/main" id="{7512F4F8-A71B-4A38-A9D6-E8CDDDC58046}"/>
              </a:ext>
            </a:extLst>
          </p:cNvPr>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052988" y="1700808"/>
            <a:ext cx="3038023" cy="3024336"/>
          </a:xfrm>
          <a:prstGeom prst="rect">
            <a:avLst/>
          </a:prstGeom>
        </p:spPr>
      </p:pic>
      <p:sp>
        <p:nvSpPr>
          <p:cNvPr id="9" name="椭圆 8">
            <a:extLst>
              <a:ext uri="{FF2B5EF4-FFF2-40B4-BE49-F238E27FC236}">
                <a16:creationId xmlns:a16="http://schemas.microsoft.com/office/drawing/2014/main" id="{C5276586-13BE-425B-BA5D-63EB856CE384}"/>
              </a:ext>
            </a:extLst>
          </p:cNvPr>
          <p:cNvSpPr/>
          <p:nvPr/>
        </p:nvSpPr>
        <p:spPr>
          <a:xfrm>
            <a:off x="3033624" y="2852936"/>
            <a:ext cx="3456384" cy="113414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smtClean="0">
                <a:solidFill>
                  <a:schemeClr val="tx2"/>
                </a:solidFill>
              </a:rPr>
              <a:t>03 </a:t>
            </a:r>
            <a:r>
              <a:rPr lang="zh-CN" altLang="en-US" sz="4400" dirty="0" smtClean="0">
                <a:solidFill>
                  <a:schemeClr val="tx2"/>
                </a:solidFill>
              </a:rPr>
              <a:t>算法设计</a:t>
            </a:r>
            <a:endParaRPr lang="zh-CN" altLang="en-US" sz="4400" dirty="0">
              <a:solidFill>
                <a:schemeClr val="tx2"/>
              </a:solidFill>
            </a:endParaRPr>
          </a:p>
        </p:txBody>
      </p:sp>
      <p:pic>
        <p:nvPicPr>
          <p:cNvPr id="10" name="Picture 3" descr="E:\融媒体\图标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92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102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83568" y="1083383"/>
            <a:ext cx="7560840" cy="5940088"/>
          </a:xfrm>
          <a:prstGeom prst="rect">
            <a:avLst/>
          </a:prstGeom>
          <a:noFill/>
        </p:spPr>
        <p:txBody>
          <a:bodyPr wrap="square" rtlCol="0">
            <a:spAutoFit/>
          </a:bodyPr>
          <a:lstStyle/>
          <a:p>
            <a:pPr indent="457200" algn="just"/>
            <a:r>
              <a:rPr lang="zh-CN" altLang="en-US" sz="2000" dirty="0"/>
              <a:t>有限域中除了</a:t>
            </a:r>
            <a:r>
              <a:rPr lang="en-US" altLang="zh-CN" sz="2000" dirty="0"/>
              <a:t>0</a:t>
            </a:r>
            <a:r>
              <a:rPr lang="zh-CN" altLang="en-US" sz="2000" dirty="0"/>
              <a:t>的每个元素都可以用生成元</a:t>
            </a:r>
            <a:r>
              <a:rPr lang="en-US" altLang="zh-CN" sz="2000" dirty="0"/>
              <a:t>α</a:t>
            </a:r>
            <a:r>
              <a:rPr lang="zh-CN" altLang="en-US" sz="2000" dirty="0" smtClean="0"/>
              <a:t>的</a:t>
            </a:r>
            <a:r>
              <a:rPr lang="en-US" altLang="zh-CN" sz="2000" dirty="0" smtClean="0"/>
              <a:t>k</a:t>
            </a:r>
            <a:r>
              <a:rPr lang="zh-CN" altLang="en-US" sz="2000" dirty="0" smtClean="0"/>
              <a:t>次方来</a:t>
            </a:r>
            <a:r>
              <a:rPr lang="zh-CN" altLang="en-US" sz="2000" dirty="0"/>
              <a:t>表示，设</a:t>
            </a:r>
            <a:r>
              <a:rPr lang="en-US" altLang="zh-CN" sz="2000" dirty="0" smtClean="0"/>
              <a:t>x</a:t>
            </a:r>
            <a:r>
              <a:rPr lang="en-US" altLang="zh-CN" sz="2000" i="1" dirty="0" smtClean="0"/>
              <a:t>=α</a:t>
            </a:r>
            <a:r>
              <a:rPr lang="en-US" altLang="zh-CN" sz="2000" baseline="30000" dirty="0" err="1" smtClean="0"/>
              <a:t>i</a:t>
            </a:r>
            <a:r>
              <a:rPr lang="zh-CN" altLang="en-US" sz="2000" dirty="0" smtClean="0"/>
              <a:t>，</a:t>
            </a:r>
            <a:r>
              <a:rPr lang="en-US" altLang="zh-CN" sz="2000" dirty="0" smtClean="0"/>
              <a:t>y=</a:t>
            </a:r>
            <a:r>
              <a:rPr lang="en-US" altLang="zh-CN" sz="2000" i="1" dirty="0" smtClean="0"/>
              <a:t>α</a:t>
            </a:r>
            <a:r>
              <a:rPr lang="en-US" altLang="zh-CN" sz="2000" baseline="30000" dirty="0" smtClean="0"/>
              <a:t>j</a:t>
            </a:r>
            <a:r>
              <a:rPr lang="zh-CN" altLang="en-US" sz="2000" dirty="0" smtClean="0"/>
              <a:t>，</a:t>
            </a:r>
            <a:r>
              <a:rPr lang="en-US" altLang="zh-CN" sz="2000" dirty="0"/>
              <a:t>x</a:t>
            </a:r>
            <a:r>
              <a:rPr lang="zh-CN" altLang="en-US" sz="2000" dirty="0"/>
              <a:t>、</a:t>
            </a:r>
            <a:r>
              <a:rPr lang="en-US" altLang="zh-CN" sz="2000" dirty="0" err="1"/>
              <a:t>y∈</a:t>
            </a:r>
            <a:r>
              <a:rPr lang="en-US" altLang="zh-CN" sz="2000" dirty="0" err="1" smtClean="0"/>
              <a:t>GF</a:t>
            </a:r>
            <a:r>
              <a:rPr lang="en-US" altLang="zh-CN" sz="2000" dirty="0" smtClean="0"/>
              <a:t>(</a:t>
            </a:r>
            <a:r>
              <a:rPr lang="en-US" altLang="zh-CN" sz="2000" dirty="0"/>
              <a:t>2</a:t>
            </a:r>
            <a:r>
              <a:rPr lang="en-US" altLang="zh-CN" sz="2000" baseline="30000" dirty="0"/>
              <a:t>n</a:t>
            </a:r>
            <a:r>
              <a:rPr lang="en-US" altLang="zh-CN" sz="2000" dirty="0" smtClean="0"/>
              <a:t>)</a:t>
            </a:r>
            <a:r>
              <a:rPr lang="zh-CN" altLang="en-US" sz="2000" dirty="0"/>
              <a:t>，则</a:t>
            </a:r>
            <a:r>
              <a:rPr lang="en-US" altLang="zh-CN" sz="2000" dirty="0" err="1"/>
              <a:t>i</a:t>
            </a:r>
            <a:r>
              <a:rPr lang="zh-CN" altLang="en-US" sz="2000" dirty="0"/>
              <a:t>是</a:t>
            </a:r>
            <a:r>
              <a:rPr lang="en-US" altLang="zh-CN" sz="2000" dirty="0"/>
              <a:t>x</a:t>
            </a:r>
            <a:r>
              <a:rPr lang="zh-CN" altLang="en-US" sz="2000" dirty="0"/>
              <a:t>相对于</a:t>
            </a:r>
            <a:r>
              <a:rPr lang="en-US" altLang="zh-CN" sz="2000" dirty="0"/>
              <a:t>α</a:t>
            </a:r>
            <a:r>
              <a:rPr lang="zh-CN" altLang="en-US" sz="2000" dirty="0"/>
              <a:t>的离散对数，</a:t>
            </a:r>
            <a:r>
              <a:rPr lang="en-US" altLang="zh-CN" sz="2000" dirty="0"/>
              <a:t>j</a:t>
            </a:r>
            <a:r>
              <a:rPr lang="zh-CN" altLang="en-US" sz="2000" dirty="0"/>
              <a:t>是</a:t>
            </a:r>
            <a:r>
              <a:rPr lang="en-US" altLang="zh-CN" sz="2000" dirty="0"/>
              <a:t>y</a:t>
            </a:r>
            <a:r>
              <a:rPr lang="zh-CN" altLang="en-US" sz="2000" dirty="0"/>
              <a:t>相对于</a:t>
            </a:r>
            <a:r>
              <a:rPr lang="en-US" altLang="zh-CN" sz="2000" dirty="0"/>
              <a:t>α</a:t>
            </a:r>
            <a:r>
              <a:rPr lang="zh-CN" altLang="en-US" sz="2000" dirty="0"/>
              <a:t>的离散对数。然后，可以定义指数函数</a:t>
            </a:r>
            <a:r>
              <a:rPr lang="en-US" altLang="zh-CN" sz="2000" dirty="0" err="1"/>
              <a:t>expf</a:t>
            </a:r>
            <a:r>
              <a:rPr lang="zh-CN" altLang="en-US" sz="2000" dirty="0"/>
              <a:t>来表示具有幂次值的元素。例如，</a:t>
            </a:r>
            <a:r>
              <a:rPr lang="en-US" altLang="zh-CN" sz="2000" dirty="0"/>
              <a:t>x</a:t>
            </a:r>
            <a:r>
              <a:rPr lang="zh-CN" altLang="en-US" sz="2000" dirty="0"/>
              <a:t>表示为</a:t>
            </a:r>
            <a:r>
              <a:rPr lang="zh-CN" altLang="en-US" sz="2000" dirty="0" smtClean="0"/>
              <a:t>：</a:t>
            </a:r>
            <a:endParaRPr lang="en-US" altLang="zh-CN" sz="2000" dirty="0" smtClean="0"/>
          </a:p>
          <a:p>
            <a:pPr indent="457200" algn="just"/>
            <a:endParaRPr lang="en-US" altLang="zh-CN" sz="2000" dirty="0" smtClean="0"/>
          </a:p>
          <a:p>
            <a:pPr indent="457200" algn="just"/>
            <a:endParaRPr lang="zh-CN" altLang="en-US" sz="2000" dirty="0"/>
          </a:p>
          <a:p>
            <a:pPr indent="457200" algn="just"/>
            <a:r>
              <a:rPr lang="zh-CN" altLang="en-US" sz="2000" dirty="0" smtClean="0"/>
              <a:t>类似</a:t>
            </a:r>
            <a:r>
              <a:rPr lang="zh-CN" altLang="en-US" sz="2000" dirty="0"/>
              <a:t>地，离散对数函数</a:t>
            </a:r>
            <a:r>
              <a:rPr lang="en-US" altLang="zh-CN" sz="2000" dirty="0" err="1"/>
              <a:t>logf</a:t>
            </a:r>
            <a:r>
              <a:rPr lang="zh-CN" altLang="en-US" sz="2000" dirty="0"/>
              <a:t>可以定义为</a:t>
            </a:r>
            <a:r>
              <a:rPr lang="zh-CN" altLang="en-US" dirty="0" smtClean="0"/>
              <a:t>：</a:t>
            </a:r>
            <a:endParaRPr lang="en-US" altLang="zh-CN" dirty="0" smtClean="0"/>
          </a:p>
          <a:p>
            <a:pPr indent="457200" algn="just"/>
            <a:endParaRPr lang="en-US" altLang="zh-CN" dirty="0" smtClean="0"/>
          </a:p>
          <a:p>
            <a:pPr indent="457200" algn="just"/>
            <a:endParaRPr lang="en-US" altLang="zh-CN" dirty="0"/>
          </a:p>
          <a:p>
            <a:pPr indent="457200" algn="just"/>
            <a:r>
              <a:rPr lang="en-US" altLang="zh-CN" dirty="0" smtClean="0"/>
              <a:t>GF(</a:t>
            </a:r>
            <a:r>
              <a:rPr lang="en-US" altLang="zh-CN" dirty="0"/>
              <a:t>2</a:t>
            </a:r>
            <a:r>
              <a:rPr lang="en-US" altLang="zh-CN" baseline="30000" dirty="0"/>
              <a:t>n</a:t>
            </a:r>
            <a:r>
              <a:rPr lang="en-US" altLang="zh-CN" dirty="0" smtClean="0"/>
              <a:t>)</a:t>
            </a:r>
            <a:r>
              <a:rPr lang="zh-CN" altLang="en-US" dirty="0"/>
              <a:t>是一个有限域，就是元素个数是有限的，但指数</a:t>
            </a:r>
            <a:r>
              <a:rPr lang="en-US" altLang="zh-CN" dirty="0"/>
              <a:t>k</a:t>
            </a:r>
            <a:r>
              <a:rPr lang="zh-CN" altLang="en-US" dirty="0"/>
              <a:t>是可以无穷的。所以必然存在循环</a:t>
            </a:r>
            <a:r>
              <a:rPr lang="zh-CN" altLang="en-US" dirty="0" smtClean="0"/>
              <a:t>。因为</a:t>
            </a:r>
            <a:r>
              <a:rPr lang="en-US" altLang="zh-CN" dirty="0" smtClean="0"/>
              <a:t>0</a:t>
            </a:r>
            <a:r>
              <a:rPr lang="zh-CN" altLang="en-US" dirty="0" smtClean="0"/>
              <a:t>不能由</a:t>
            </a:r>
            <a:r>
              <a:rPr lang="en-US" altLang="zh-CN" dirty="0" smtClean="0"/>
              <a:t>g</a:t>
            </a:r>
            <a:r>
              <a:rPr lang="zh-CN" altLang="en-US" dirty="0" smtClean="0"/>
              <a:t>生成</a:t>
            </a:r>
            <a:r>
              <a:rPr lang="zh-CN" altLang="en-US" dirty="0"/>
              <a:t>，少了一</a:t>
            </a:r>
            <a:r>
              <a:rPr lang="zh-CN" altLang="en-US" dirty="0" smtClean="0"/>
              <a:t>个，所以这个</a:t>
            </a:r>
            <a:r>
              <a:rPr lang="zh-CN" altLang="en-US" dirty="0"/>
              <a:t>循环的周期是</a:t>
            </a:r>
            <a:r>
              <a:rPr lang="en-US" altLang="zh-CN" dirty="0"/>
              <a:t>2</a:t>
            </a:r>
            <a:r>
              <a:rPr lang="en-US" altLang="zh-CN" baseline="30000" dirty="0"/>
              <a:t>n</a:t>
            </a:r>
            <a:r>
              <a:rPr lang="en-US" altLang="zh-CN" dirty="0"/>
              <a:t>-1</a:t>
            </a:r>
            <a:r>
              <a:rPr lang="zh-CN" altLang="en-US" dirty="0"/>
              <a:t>， </a:t>
            </a:r>
            <a:r>
              <a:rPr lang="zh-CN" altLang="en-US" dirty="0" smtClean="0"/>
              <a:t>。</a:t>
            </a:r>
            <a:r>
              <a:rPr lang="zh-CN" altLang="en-US" dirty="0"/>
              <a:t>所以</a:t>
            </a:r>
            <a:r>
              <a:rPr lang="zh-CN" altLang="en-US" dirty="0" smtClean="0"/>
              <a:t>对于</a:t>
            </a:r>
            <a:r>
              <a:rPr lang="en-US" altLang="zh-CN" dirty="0"/>
              <a:t>GF(2</a:t>
            </a:r>
            <a:r>
              <a:rPr lang="en-US" altLang="zh-CN" baseline="30000" dirty="0"/>
              <a:t>n</a:t>
            </a:r>
            <a:r>
              <a:rPr lang="en-US" altLang="zh-CN" dirty="0" smtClean="0"/>
              <a:t>)</a:t>
            </a:r>
            <a:r>
              <a:rPr lang="zh-CN" altLang="en-US" dirty="0" smtClean="0"/>
              <a:t>，当</a:t>
            </a:r>
            <a:r>
              <a:rPr lang="en-US" altLang="zh-CN" dirty="0"/>
              <a:t>k</a:t>
            </a:r>
            <a:r>
              <a:rPr lang="zh-CN" altLang="en-US" dirty="0" smtClean="0"/>
              <a:t>大于</a:t>
            </a:r>
            <a:r>
              <a:rPr lang="en-US" altLang="zh-CN" dirty="0"/>
              <a:t>2</a:t>
            </a:r>
            <a:r>
              <a:rPr lang="en-US" altLang="zh-CN" baseline="30000" dirty="0"/>
              <a:t>n</a:t>
            </a:r>
            <a:r>
              <a:rPr lang="en-US" altLang="zh-CN" dirty="0"/>
              <a:t>-1</a:t>
            </a:r>
            <a:r>
              <a:rPr lang="zh-CN" altLang="en-US" dirty="0" smtClean="0"/>
              <a:t>时，</a:t>
            </a:r>
            <a:r>
              <a:rPr lang="en-US" altLang="zh-CN" dirty="0" smtClean="0"/>
              <a:t>a=</a:t>
            </a:r>
            <a:r>
              <a:rPr lang="en-US" altLang="zh-CN" dirty="0" err="1" smtClean="0"/>
              <a:t>g</a:t>
            </a:r>
            <a:r>
              <a:rPr lang="en-US" altLang="zh-CN" baseline="30000" dirty="0" err="1" smtClean="0"/>
              <a:t>k</a:t>
            </a:r>
            <a:r>
              <a:rPr lang="en-US" altLang="zh-CN" dirty="0" smtClean="0"/>
              <a:t>=</a:t>
            </a:r>
            <a:r>
              <a:rPr lang="en-US" altLang="zh-CN" dirty="0" err="1" smtClean="0"/>
              <a:t>g</a:t>
            </a:r>
            <a:r>
              <a:rPr lang="en-US" altLang="zh-CN" baseline="30000" dirty="0" err="1" smtClean="0"/>
              <a:t>k</a:t>
            </a:r>
            <a:r>
              <a:rPr lang="en-US" altLang="zh-CN" baseline="30000" dirty="0" smtClean="0"/>
              <a:t>%(</a:t>
            </a:r>
            <a:r>
              <a:rPr lang="en-US" altLang="zh-CN" dirty="0"/>
              <a:t>2</a:t>
            </a:r>
            <a:r>
              <a:rPr lang="en-US" altLang="zh-CN" baseline="30000" dirty="0"/>
              <a:t>n</a:t>
            </a:r>
            <a:r>
              <a:rPr lang="en-US" altLang="zh-CN" dirty="0"/>
              <a:t>-1</a:t>
            </a:r>
            <a:r>
              <a:rPr lang="en-US" altLang="zh-CN" baseline="30000" dirty="0" smtClean="0"/>
              <a:t>)</a:t>
            </a:r>
            <a:endParaRPr lang="en-US" altLang="zh-CN" dirty="0"/>
          </a:p>
          <a:p>
            <a:pPr indent="457200" algn="just"/>
            <a:r>
              <a:rPr lang="zh-CN" altLang="en-US" dirty="0" smtClean="0"/>
              <a:t>推导基本乘法函数</a:t>
            </a:r>
            <a:r>
              <a:rPr lang="en-US" altLang="zh-CN" dirty="0" err="1" smtClean="0"/>
              <a:t>mul</a:t>
            </a:r>
            <a:r>
              <a:rPr lang="en-US" altLang="zh-CN" dirty="0" smtClean="0"/>
              <a:t>(</a:t>
            </a:r>
            <a:r>
              <a:rPr lang="en-US" altLang="zh-CN" dirty="0" err="1" smtClean="0"/>
              <a:t>x,y</a:t>
            </a:r>
            <a:r>
              <a:rPr lang="en-US" altLang="zh-CN" dirty="0" smtClean="0"/>
              <a:t>)</a:t>
            </a:r>
            <a:r>
              <a:rPr lang="zh-CN" altLang="en-US" dirty="0" smtClean="0"/>
              <a:t>：</a:t>
            </a:r>
            <a:endParaRPr lang="en-US" altLang="zh-CN" dirty="0" smtClean="0"/>
          </a:p>
          <a:p>
            <a:pPr indent="457200" algn="just"/>
            <a:endParaRPr lang="en-US" altLang="zh-CN" dirty="0" smtClean="0"/>
          </a:p>
          <a:p>
            <a:pPr indent="457200" algn="just"/>
            <a:endParaRPr lang="en-US" altLang="zh-CN" dirty="0" smtClean="0"/>
          </a:p>
          <a:p>
            <a:pPr indent="457200" algn="just"/>
            <a:r>
              <a:rPr lang="zh-CN" altLang="en-US" dirty="0" smtClean="0"/>
              <a:t>令</a:t>
            </a:r>
            <a:r>
              <a:rPr lang="en-US" altLang="zh-CN" dirty="0" smtClean="0"/>
              <a:t>Q=2</a:t>
            </a:r>
            <a:r>
              <a:rPr lang="en-US" altLang="zh-CN" baseline="30000" dirty="0" smtClean="0"/>
              <a:t>n</a:t>
            </a:r>
            <a:endParaRPr lang="en-US" altLang="zh-CN" dirty="0"/>
          </a:p>
          <a:p>
            <a:pPr indent="457200" algn="just"/>
            <a:endParaRPr lang="en-US" altLang="zh-CN" dirty="0"/>
          </a:p>
          <a:p>
            <a:pPr indent="457200" algn="just"/>
            <a:r>
              <a:rPr lang="en-US" altLang="zh-CN" baseline="30000" dirty="0" smtClean="0"/>
              <a:t>                                                                                          </a:t>
            </a:r>
            <a:r>
              <a:rPr lang="en-US" altLang="zh-CN" baseline="30000" dirty="0" smtClean="0">
                <a:sym typeface="Wingdings" panose="05000000000000000000" pitchFamily="2" charset="2"/>
              </a:rPr>
              <a:t></a:t>
            </a:r>
            <a:endParaRPr lang="en-US" altLang="zh-CN" baseline="30000" dirty="0"/>
          </a:p>
          <a:p>
            <a:pPr indent="457200" algn="just"/>
            <a:endParaRPr lang="en-US" altLang="zh-CN" baseline="30000" dirty="0" smtClean="0"/>
          </a:p>
          <a:p>
            <a:pPr indent="457200" algn="just"/>
            <a:endParaRPr lang="en-US" altLang="zh-CN" baseline="30000" dirty="0"/>
          </a:p>
          <a:p>
            <a:pPr indent="457200" algn="just"/>
            <a:endParaRPr lang="en-US" altLang="zh-CN" baseline="30000" dirty="0" smtClean="0"/>
          </a:p>
          <a:p>
            <a:pPr indent="457200" algn="just"/>
            <a:endParaRPr lang="en-US" altLang="zh-CN" baseline="30000" dirty="0"/>
          </a:p>
        </p:txBody>
      </p:sp>
      <p:pic>
        <p:nvPicPr>
          <p:cNvPr id="11" name="图片 10"/>
          <p:cNvPicPr>
            <a:picLocks noChangeAspect="1"/>
          </p:cNvPicPr>
          <p:nvPr/>
        </p:nvPicPr>
        <p:blipFill>
          <a:blip r:embed="rId5"/>
          <a:stretch>
            <a:fillRect/>
          </a:stretch>
        </p:blipFill>
        <p:spPr>
          <a:xfrm>
            <a:off x="3358992" y="2420888"/>
            <a:ext cx="2209992" cy="434378"/>
          </a:xfrm>
          <a:prstGeom prst="rect">
            <a:avLst/>
          </a:prstGeom>
        </p:spPr>
      </p:pic>
      <p:pic>
        <p:nvPicPr>
          <p:cNvPr id="16" name="图片 15"/>
          <p:cNvPicPr>
            <a:picLocks noChangeAspect="1"/>
          </p:cNvPicPr>
          <p:nvPr/>
        </p:nvPicPr>
        <p:blipFill>
          <a:blip r:embed="rId6"/>
          <a:stretch>
            <a:fillRect/>
          </a:stretch>
        </p:blipFill>
        <p:spPr>
          <a:xfrm>
            <a:off x="3358992" y="3383582"/>
            <a:ext cx="2209992" cy="396491"/>
          </a:xfrm>
          <a:prstGeom prst="rect">
            <a:avLst/>
          </a:prstGeom>
        </p:spPr>
      </p:pic>
      <p:pic>
        <p:nvPicPr>
          <p:cNvPr id="3" name="图片 2"/>
          <p:cNvPicPr>
            <a:picLocks noChangeAspect="1"/>
          </p:cNvPicPr>
          <p:nvPr/>
        </p:nvPicPr>
        <p:blipFill>
          <a:blip r:embed="rId7"/>
          <a:stretch>
            <a:fillRect/>
          </a:stretch>
        </p:blipFill>
        <p:spPr>
          <a:xfrm>
            <a:off x="3469492" y="4950825"/>
            <a:ext cx="1988992" cy="312447"/>
          </a:xfrm>
          <a:prstGeom prst="rect">
            <a:avLst/>
          </a:prstGeom>
        </p:spPr>
      </p:pic>
      <p:pic>
        <p:nvPicPr>
          <p:cNvPr id="6" name="图片 5"/>
          <p:cNvPicPr>
            <a:picLocks noChangeAspect="1"/>
          </p:cNvPicPr>
          <p:nvPr/>
        </p:nvPicPr>
        <p:blipFill>
          <a:blip r:embed="rId8"/>
          <a:stretch>
            <a:fillRect/>
          </a:stretch>
        </p:blipFill>
        <p:spPr>
          <a:xfrm>
            <a:off x="1799184" y="5874928"/>
            <a:ext cx="2309060" cy="365792"/>
          </a:xfrm>
          <a:prstGeom prst="rect">
            <a:avLst/>
          </a:prstGeom>
        </p:spPr>
      </p:pic>
      <p:pic>
        <p:nvPicPr>
          <p:cNvPr id="8" name="图片 7"/>
          <p:cNvPicPr>
            <a:picLocks noChangeAspect="1"/>
          </p:cNvPicPr>
          <p:nvPr/>
        </p:nvPicPr>
        <p:blipFill>
          <a:blip r:embed="rId9"/>
          <a:stretch>
            <a:fillRect/>
          </a:stretch>
        </p:blipFill>
        <p:spPr>
          <a:xfrm>
            <a:off x="4748042" y="5867308"/>
            <a:ext cx="3756986" cy="373412"/>
          </a:xfrm>
          <a:prstGeom prst="rect">
            <a:avLst/>
          </a:prstGeom>
        </p:spPr>
      </p:pic>
    </p:spTree>
    <p:extLst>
      <p:ext uri="{BB962C8B-B14F-4D97-AF65-F5344CB8AC3E}">
        <p14:creationId xmlns:p14="http://schemas.microsoft.com/office/powerpoint/2010/main" val="15237074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102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11560" y="1102092"/>
            <a:ext cx="7560840" cy="6093976"/>
          </a:xfrm>
          <a:prstGeom prst="rect">
            <a:avLst/>
          </a:prstGeom>
          <a:noFill/>
        </p:spPr>
        <p:txBody>
          <a:bodyPr wrap="square" rtlCol="0">
            <a:spAutoFit/>
          </a:bodyPr>
          <a:lstStyle/>
          <a:p>
            <a:pPr indent="457200"/>
            <a:r>
              <a:rPr lang="zh-CN" altLang="en-US" dirty="0" smtClean="0"/>
              <a:t>基本乘法函数：</a:t>
            </a:r>
            <a:endParaRPr lang="en-US" altLang="zh-CN" dirty="0" smtClean="0"/>
          </a:p>
          <a:p>
            <a:pPr indent="457200"/>
            <a:r>
              <a:rPr lang="en-US" altLang="zh-CN" dirty="0" smtClean="0"/>
              <a:t>procedure </a:t>
            </a:r>
            <a:r>
              <a:rPr lang="en-US" altLang="zh-CN" dirty="0" err="1"/>
              <a:t>mul</a:t>
            </a:r>
            <a:r>
              <a:rPr lang="en-US" altLang="zh-CN" dirty="0"/>
              <a:t>(x, y) </a:t>
            </a:r>
            <a:endParaRPr lang="zh-CN" altLang="zh-CN" dirty="0"/>
          </a:p>
          <a:p>
            <a:pPr indent="457200"/>
            <a:r>
              <a:rPr lang="en-US" altLang="zh-CN" dirty="0"/>
              <a:t>{</a:t>
            </a:r>
            <a:endParaRPr lang="zh-CN" altLang="zh-CN" dirty="0"/>
          </a:p>
          <a:p>
            <a:pPr indent="457200"/>
            <a:r>
              <a:rPr lang="en-US" altLang="zh-CN" dirty="0" smtClean="0"/>
              <a:t>	if(x</a:t>
            </a:r>
            <a:r>
              <a:rPr lang="en-US" altLang="zh-CN" dirty="0"/>
              <a:t>==0||y==0)</a:t>
            </a:r>
            <a:endParaRPr lang="zh-CN" altLang="zh-CN" dirty="0"/>
          </a:p>
          <a:p>
            <a:pPr indent="457200"/>
            <a:r>
              <a:rPr lang="en-US" altLang="zh-CN" dirty="0" smtClean="0"/>
              <a:t>		return </a:t>
            </a:r>
            <a:r>
              <a:rPr lang="en-US" altLang="zh-CN" dirty="0"/>
              <a:t>0; </a:t>
            </a:r>
            <a:endParaRPr lang="zh-CN" altLang="zh-CN" dirty="0"/>
          </a:p>
          <a:p>
            <a:pPr indent="457200"/>
            <a:r>
              <a:rPr lang="en-US" altLang="zh-CN" dirty="0" smtClean="0"/>
              <a:t>	return </a:t>
            </a:r>
            <a:r>
              <a:rPr lang="en-US" altLang="zh-CN" dirty="0" err="1"/>
              <a:t>expf</a:t>
            </a:r>
            <a:r>
              <a:rPr lang="en-US" altLang="zh-CN" dirty="0"/>
              <a:t>[(</a:t>
            </a:r>
            <a:r>
              <a:rPr lang="en-US" altLang="zh-CN" dirty="0" err="1"/>
              <a:t>logf</a:t>
            </a:r>
            <a:r>
              <a:rPr lang="en-US" altLang="zh-CN" dirty="0"/>
              <a:t>[x]+</a:t>
            </a:r>
            <a:r>
              <a:rPr lang="en-US" altLang="zh-CN" dirty="0" err="1"/>
              <a:t>logf</a:t>
            </a:r>
            <a:r>
              <a:rPr lang="en-US" altLang="zh-CN" dirty="0"/>
              <a:t>[y])%(Q-1)];</a:t>
            </a:r>
            <a:endParaRPr lang="zh-CN" altLang="zh-CN" dirty="0"/>
          </a:p>
          <a:p>
            <a:pPr indent="457200"/>
            <a:r>
              <a:rPr lang="en-US" altLang="zh-CN" dirty="0" smtClean="0"/>
              <a:t>}</a:t>
            </a:r>
            <a:endParaRPr kumimoji="0" lang="en-US" altLang="zh-CN" sz="1800" b="0" i="0" u="none" strike="noStrike" kern="1200" cap="none" spc="0" normalizeH="0" baseline="30000" noProof="0" dirty="0">
              <a:ln>
                <a:noFill/>
              </a:ln>
              <a:solidFill>
                <a:prstClr val="black"/>
              </a:solidFill>
              <a:effectLst/>
              <a:uLnTx/>
              <a:uFillTx/>
              <a:latin typeface="Calibri"/>
              <a:ea typeface="宋体" panose="02010600030101010101" pitchFamily="2" charset="-122"/>
              <a:cs typeface="+mn-cs"/>
            </a:endParaRPr>
          </a:p>
          <a:p>
            <a:endParaRPr lang="en-US" altLang="zh-CN" baseline="30000" dirty="0" smtClean="0">
              <a:solidFill>
                <a:prstClr val="black"/>
              </a:solidFill>
              <a:latin typeface="Calibri"/>
              <a:ea typeface="宋体" panose="02010600030101010101" pitchFamily="2" charset="-122"/>
            </a:endParaRPr>
          </a:p>
          <a:p>
            <a:pPr algn="ctr"/>
            <a:r>
              <a:rPr lang="zh-CN" altLang="en-US" sz="2400" dirty="0">
                <a:solidFill>
                  <a:srgbClr val="FF0000"/>
                </a:solidFill>
              </a:rPr>
              <a:t>改进方法</a:t>
            </a:r>
            <a:r>
              <a:rPr lang="en-US" altLang="zh-CN" sz="2400" dirty="0">
                <a:solidFill>
                  <a:srgbClr val="FF0000"/>
                </a:solidFill>
              </a:rPr>
              <a:t>1</a:t>
            </a:r>
            <a:r>
              <a:rPr lang="zh-CN" altLang="en-US" sz="2400" dirty="0" smtClean="0">
                <a:solidFill>
                  <a:srgbClr val="FF0000"/>
                </a:solidFill>
              </a:rPr>
              <a:t>：</a:t>
            </a:r>
            <a:endParaRPr lang="en-US" altLang="zh-CN" sz="2400" dirty="0" smtClean="0">
              <a:solidFill>
                <a:srgbClr val="FF0000"/>
              </a:solidFill>
            </a:endParaRPr>
          </a:p>
          <a:p>
            <a:pPr indent="457200"/>
            <a:r>
              <a:rPr lang="en-US" altLang="zh-CN" dirty="0"/>
              <a:t>(</a:t>
            </a:r>
            <a:r>
              <a:rPr lang="en-US" altLang="zh-CN" i="1" dirty="0" err="1"/>
              <a:t>i+j</a:t>
            </a:r>
            <a:r>
              <a:rPr lang="en-US" altLang="zh-CN" dirty="0"/>
              <a:t>)%(</a:t>
            </a:r>
            <a:r>
              <a:rPr lang="en-US" altLang="zh-CN" i="1" dirty="0" smtClean="0"/>
              <a:t>Q</a:t>
            </a:r>
            <a:r>
              <a:rPr lang="en-US" altLang="zh-CN" dirty="0" smtClean="0"/>
              <a:t>-1)</a:t>
            </a:r>
            <a:r>
              <a:rPr lang="zh-CN" altLang="en-US" dirty="0" smtClean="0"/>
              <a:t>可以替换成：</a:t>
            </a:r>
            <a:endParaRPr lang="en-US" altLang="zh-CN" dirty="0" smtClean="0"/>
          </a:p>
          <a:p>
            <a:pPr indent="457200"/>
            <a:endParaRPr lang="en-US" altLang="zh-CN" dirty="0"/>
          </a:p>
          <a:p>
            <a:pPr indent="457200"/>
            <a:endParaRPr lang="en-US" altLang="zh-CN" dirty="0" smtClean="0"/>
          </a:p>
          <a:p>
            <a:pPr indent="457200"/>
            <a:r>
              <a:rPr lang="en-US" altLang="zh-CN" dirty="0"/>
              <a:t>procedure </a:t>
            </a:r>
            <a:r>
              <a:rPr lang="en-US" altLang="zh-CN" dirty="0" err="1"/>
              <a:t>mul</a:t>
            </a:r>
            <a:r>
              <a:rPr lang="en-US" altLang="zh-CN" dirty="0"/>
              <a:t>(x, y) </a:t>
            </a:r>
            <a:endParaRPr lang="zh-CN" altLang="zh-CN" dirty="0"/>
          </a:p>
          <a:p>
            <a:pPr indent="457200"/>
            <a:r>
              <a:rPr lang="en-US" altLang="zh-CN" dirty="0"/>
              <a:t>{</a:t>
            </a:r>
            <a:endParaRPr lang="zh-CN" altLang="zh-CN" dirty="0"/>
          </a:p>
          <a:p>
            <a:pPr indent="457200"/>
            <a:r>
              <a:rPr lang="en-US" altLang="zh-CN" dirty="0" smtClean="0"/>
              <a:t>	if(x</a:t>
            </a:r>
            <a:r>
              <a:rPr lang="en-US" altLang="zh-CN" dirty="0"/>
              <a:t>==0||y==0) </a:t>
            </a:r>
            <a:endParaRPr lang="en-US" altLang="zh-CN" dirty="0" smtClean="0"/>
          </a:p>
          <a:p>
            <a:pPr indent="457200"/>
            <a:r>
              <a:rPr lang="en-US" altLang="zh-CN" dirty="0"/>
              <a:t>	</a:t>
            </a:r>
            <a:r>
              <a:rPr lang="en-US" altLang="zh-CN" dirty="0" smtClean="0"/>
              <a:t>	return </a:t>
            </a:r>
            <a:r>
              <a:rPr lang="en-US" altLang="zh-CN" dirty="0"/>
              <a:t>0; </a:t>
            </a:r>
            <a:endParaRPr lang="zh-CN" altLang="zh-CN" dirty="0"/>
          </a:p>
          <a:p>
            <a:pPr indent="457200"/>
            <a:r>
              <a:rPr lang="en-US" altLang="zh-CN" dirty="0" smtClean="0"/>
              <a:t>	return </a:t>
            </a:r>
            <a:r>
              <a:rPr lang="en-US" altLang="zh-CN" dirty="0" err="1"/>
              <a:t>expf</a:t>
            </a:r>
            <a:r>
              <a:rPr lang="en-US" altLang="zh-CN" dirty="0"/>
              <a:t>[(</a:t>
            </a:r>
            <a:r>
              <a:rPr lang="en-US" altLang="zh-CN" dirty="0" err="1"/>
              <a:t>logf</a:t>
            </a:r>
            <a:r>
              <a:rPr lang="en-US" altLang="zh-CN" dirty="0"/>
              <a:t>[x]+</a:t>
            </a:r>
            <a:r>
              <a:rPr lang="en-US" altLang="zh-CN" dirty="0" err="1"/>
              <a:t>logf</a:t>
            </a:r>
            <a:r>
              <a:rPr lang="en-US" altLang="zh-CN" dirty="0"/>
              <a:t>[y])&amp;(Q-1)+(</a:t>
            </a:r>
            <a:r>
              <a:rPr lang="en-US" altLang="zh-CN" dirty="0" err="1"/>
              <a:t>logf</a:t>
            </a:r>
            <a:r>
              <a:rPr lang="en-US" altLang="zh-CN" dirty="0"/>
              <a:t>[x]+</a:t>
            </a:r>
            <a:r>
              <a:rPr lang="en-US" altLang="zh-CN" dirty="0" err="1"/>
              <a:t>logf</a:t>
            </a:r>
            <a:r>
              <a:rPr lang="en-US" altLang="zh-CN" dirty="0"/>
              <a:t>[y])&gt;&gt;n];</a:t>
            </a:r>
            <a:endParaRPr lang="zh-CN" altLang="zh-CN" dirty="0"/>
          </a:p>
          <a:p>
            <a:pPr indent="457200"/>
            <a:r>
              <a:rPr lang="en-US" altLang="zh-CN" dirty="0"/>
              <a:t>}</a:t>
            </a:r>
            <a:endParaRPr lang="en-US" altLang="zh-CN" dirty="0" smtClean="0"/>
          </a:p>
          <a:p>
            <a:endParaRPr lang="en-US" altLang="zh-CN" dirty="0"/>
          </a:p>
          <a:p>
            <a:endParaRPr kumimoji="0" lang="en-US" altLang="zh-CN" sz="1800" b="0" i="0" u="none" strike="noStrike" kern="1200" cap="none" spc="0" normalizeH="0" baseline="30000" noProof="0" dirty="0">
              <a:ln>
                <a:noFill/>
              </a:ln>
              <a:solidFill>
                <a:prstClr val="black"/>
              </a:solidFill>
              <a:effectLst/>
              <a:uLnTx/>
              <a:uFillTx/>
              <a:latin typeface="Calibri"/>
              <a:ea typeface="宋体" panose="02010600030101010101" pitchFamily="2" charset="-122"/>
              <a:cs typeface="+mn-cs"/>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30000" noProof="0" dirty="0" smtClean="0">
              <a:ln>
                <a:noFill/>
              </a:ln>
              <a:solidFill>
                <a:prstClr val="black"/>
              </a:solidFill>
              <a:effectLst/>
              <a:uLnTx/>
              <a:uFillTx/>
              <a:latin typeface="Calibri"/>
              <a:ea typeface="宋体" panose="02010600030101010101" pitchFamily="2" charset="-122"/>
              <a:cs typeface="+mn-cs"/>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30000" noProof="0" dirty="0">
              <a:ln>
                <a:noFill/>
              </a:ln>
              <a:solidFill>
                <a:prstClr val="black"/>
              </a:solidFill>
              <a:effectLst/>
              <a:uLnTx/>
              <a:uFillTx/>
              <a:latin typeface="Calibri"/>
              <a:ea typeface="宋体" panose="02010600030101010101" pitchFamily="2" charset="-122"/>
              <a:cs typeface="+mn-cs"/>
            </a:endParaRPr>
          </a:p>
        </p:txBody>
      </p:sp>
      <p:pic>
        <p:nvPicPr>
          <p:cNvPr id="9" name="图片 8"/>
          <p:cNvPicPr>
            <a:picLocks noChangeAspect="1"/>
          </p:cNvPicPr>
          <p:nvPr/>
        </p:nvPicPr>
        <p:blipFill>
          <a:blip r:embed="rId5"/>
          <a:stretch>
            <a:fillRect/>
          </a:stretch>
        </p:blipFill>
        <p:spPr>
          <a:xfrm>
            <a:off x="2601125" y="3966184"/>
            <a:ext cx="3581710" cy="365792"/>
          </a:xfrm>
          <a:prstGeom prst="rect">
            <a:avLst/>
          </a:prstGeom>
        </p:spPr>
      </p:pic>
      <p:sp>
        <p:nvSpPr>
          <p:cNvPr id="10" name="矩形 9"/>
          <p:cNvSpPr/>
          <p:nvPr/>
        </p:nvSpPr>
        <p:spPr>
          <a:xfrm>
            <a:off x="1043608" y="4422950"/>
            <a:ext cx="6264696" cy="17281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843041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102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83568" y="1083383"/>
            <a:ext cx="9361040" cy="5447645"/>
          </a:xfrm>
          <a:prstGeom prst="rect">
            <a:avLst/>
          </a:prstGeom>
          <a:noFill/>
        </p:spPr>
        <p:txBody>
          <a:bodyPr wrap="square" rtlCol="0">
            <a:spAutoFit/>
          </a:body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基本乘法函数：</a:t>
            </a:r>
            <a:endPar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procedure </a:t>
            </a:r>
            <a:r>
              <a:rPr kumimoji="0" lang="en-US" altLang="zh-CN" sz="1800" b="0" i="0" u="none" strike="noStrike" kern="1200" cap="none" spc="0" normalizeH="0" baseline="0" noProof="0" dirty="0" err="1" smtClean="0">
                <a:ln>
                  <a:noFill/>
                </a:ln>
                <a:solidFill>
                  <a:prstClr val="black"/>
                </a:solidFill>
                <a:effectLst/>
                <a:uLnTx/>
                <a:uFillTx/>
                <a:latin typeface="Calibri"/>
                <a:ea typeface="宋体" panose="02010600030101010101" pitchFamily="2" charset="-122"/>
                <a:cs typeface="+mn-cs"/>
              </a:rPr>
              <a:t>mul</a:t>
            </a: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(x, y) </a:t>
            </a:r>
            <a:endParaRPr kumimoji="0" lang="zh-CN"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a:t>
            </a:r>
            <a:endParaRPr kumimoji="0" lang="zh-CN"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	if(x==0||y==0)</a:t>
            </a:r>
            <a:endParaRPr kumimoji="0" lang="zh-CN"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		return 0; </a:t>
            </a:r>
            <a:endParaRPr kumimoji="0" lang="zh-CN"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	return </a:t>
            </a:r>
            <a:r>
              <a:rPr kumimoji="0" lang="en-US" altLang="zh-CN" sz="1800" b="0" i="0" u="none" strike="noStrike" kern="1200" cap="none" spc="0" normalizeH="0" baseline="0" noProof="0" dirty="0" err="1" smtClean="0">
                <a:ln>
                  <a:noFill/>
                </a:ln>
                <a:solidFill>
                  <a:prstClr val="black"/>
                </a:solidFill>
                <a:effectLst/>
                <a:uLnTx/>
                <a:uFillTx/>
                <a:latin typeface="Calibri"/>
                <a:ea typeface="宋体" panose="02010600030101010101" pitchFamily="2" charset="-122"/>
                <a:cs typeface="+mn-cs"/>
              </a:rPr>
              <a:t>expf</a:t>
            </a: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a:t>
            </a:r>
            <a:r>
              <a:rPr kumimoji="0" lang="en-US" altLang="zh-CN" sz="1800" b="0" i="0" u="none" strike="noStrike" kern="1200" cap="none" spc="0" normalizeH="0" baseline="0" noProof="0" dirty="0" err="1" smtClean="0">
                <a:ln>
                  <a:noFill/>
                </a:ln>
                <a:solidFill>
                  <a:prstClr val="black"/>
                </a:solidFill>
                <a:effectLst/>
                <a:uLnTx/>
                <a:uFillTx/>
                <a:latin typeface="Calibri"/>
                <a:ea typeface="宋体" panose="02010600030101010101" pitchFamily="2" charset="-122"/>
                <a:cs typeface="+mn-cs"/>
              </a:rPr>
              <a:t>logf</a:t>
            </a: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[x]+</a:t>
            </a:r>
            <a:r>
              <a:rPr kumimoji="0" lang="en-US" altLang="zh-CN" sz="1800" b="0" i="0" u="none" strike="noStrike" kern="1200" cap="none" spc="0" normalizeH="0" baseline="0" noProof="0" dirty="0" err="1" smtClean="0">
                <a:ln>
                  <a:noFill/>
                </a:ln>
                <a:solidFill>
                  <a:prstClr val="black"/>
                </a:solidFill>
                <a:effectLst/>
                <a:uLnTx/>
                <a:uFillTx/>
                <a:latin typeface="Calibri"/>
                <a:ea typeface="宋体" panose="02010600030101010101" pitchFamily="2" charset="-122"/>
                <a:cs typeface="+mn-cs"/>
              </a:rPr>
              <a:t>logf</a:t>
            </a: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[y])%(Q-1)];</a:t>
            </a:r>
            <a:endParaRPr kumimoji="0" lang="zh-CN"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a:t>
            </a:r>
            <a:endParaRPr lang="en-US" altLang="zh-CN" baseline="30000" noProof="0" dirty="0" smtClean="0">
              <a:solidFill>
                <a:prstClr val="black"/>
              </a:solidFill>
              <a:latin typeface="Calibri"/>
              <a:ea typeface="宋体" panose="02010600030101010101" pitchFamily="2" charset="-122"/>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30000" dirty="0">
                <a:ln>
                  <a:noFill/>
                </a:ln>
                <a:solidFill>
                  <a:prstClr val="black"/>
                </a:solidFill>
                <a:effectLst/>
                <a:uLnTx/>
                <a:uFillTx/>
                <a:latin typeface="Calibri"/>
                <a:ea typeface="宋体" panose="02010600030101010101" pitchFamily="2" charset="-122"/>
                <a:cs typeface="+mn-cs"/>
              </a:rPr>
              <a:t>	</a:t>
            </a:r>
            <a:r>
              <a:rPr kumimoji="0" lang="en-US" altLang="zh-CN" sz="2400" b="0" i="0" u="none" strike="noStrike" kern="1200" cap="none" spc="0" normalizeH="0" baseline="30000" dirty="0" smtClean="0">
                <a:ln>
                  <a:noFill/>
                </a:ln>
                <a:solidFill>
                  <a:prstClr val="black"/>
                </a:solidFill>
                <a:effectLst/>
                <a:uLnTx/>
                <a:uFillTx/>
                <a:latin typeface="Calibri"/>
                <a:ea typeface="宋体" panose="02010600030101010101" pitchFamily="2" charset="-122"/>
                <a:cs typeface="+mn-cs"/>
              </a:rPr>
              <a:t>		</a:t>
            </a:r>
            <a:r>
              <a:rPr kumimoji="0" lang="en-US" altLang="zh-CN" sz="2400" b="0" i="0" u="none" strike="noStrike" kern="1200" cap="none" spc="0" normalizeH="0" dirty="0" smtClean="0">
                <a:ln>
                  <a:noFill/>
                </a:ln>
                <a:solidFill>
                  <a:prstClr val="black"/>
                </a:solidFill>
                <a:effectLst/>
                <a:uLnTx/>
                <a:uFillTx/>
                <a:latin typeface="Calibri"/>
                <a:ea typeface="宋体" panose="02010600030101010101" pitchFamily="2" charset="-122"/>
                <a:cs typeface="+mn-cs"/>
              </a:rPr>
              <a:t>     </a:t>
            </a:r>
            <a:r>
              <a:rPr kumimoji="0" lang="zh-CN" altLang="en-US" sz="2400" b="0" i="0" u="none" strike="noStrike" kern="1200" cap="none" spc="0" normalizeH="0" baseline="0" noProof="0" dirty="0" smtClean="0">
                <a:ln>
                  <a:noFill/>
                </a:ln>
                <a:solidFill>
                  <a:srgbClr val="FF0000"/>
                </a:solidFill>
                <a:effectLst/>
                <a:uLnTx/>
                <a:uFillTx/>
                <a:latin typeface="Calibri"/>
                <a:ea typeface="宋体" panose="02010600030101010101" pitchFamily="2" charset="-122"/>
                <a:cs typeface="+mn-cs"/>
              </a:rPr>
              <a:t>改进方法</a:t>
            </a:r>
            <a:r>
              <a:rPr lang="en-US" altLang="zh-CN" sz="2400" dirty="0">
                <a:solidFill>
                  <a:srgbClr val="FF0000"/>
                </a:solidFill>
                <a:latin typeface="Calibri"/>
                <a:ea typeface="宋体" panose="02010600030101010101" pitchFamily="2" charset="-122"/>
              </a:rPr>
              <a:t>2</a:t>
            </a:r>
            <a:r>
              <a:rPr kumimoji="0" lang="zh-CN" altLang="en-US" sz="2400" b="0" i="0" u="none" strike="noStrike" kern="1200" cap="none" spc="0" normalizeH="0" baseline="0" noProof="0" dirty="0" smtClean="0">
                <a:ln>
                  <a:noFill/>
                </a:ln>
                <a:solidFill>
                  <a:srgbClr val="FF0000"/>
                </a:solidFill>
                <a:effectLst/>
                <a:uLnTx/>
                <a:uFillTx/>
                <a:latin typeface="Calibri"/>
                <a:ea typeface="宋体" panose="02010600030101010101" pitchFamily="2" charset="-122"/>
                <a:cs typeface="+mn-cs"/>
              </a:rPr>
              <a:t>：</a:t>
            </a:r>
            <a:endParaRPr kumimoji="0" lang="en-US" altLang="zh-CN" sz="2400" b="0" i="0" u="none" strike="noStrike" kern="1200" cap="none" spc="0" normalizeH="0" baseline="0" noProof="0" dirty="0" smtClean="0">
              <a:ln>
                <a:noFill/>
              </a:ln>
              <a:solidFill>
                <a:srgbClr val="FF0000"/>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通过扩大指数表和对数表，消除</a:t>
            </a:r>
            <a:r>
              <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if</a:t>
            </a:r>
            <a:r>
              <a:rPr kumimoji="0" lang="zh-CN" altLang="en-US"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和模运算：</a:t>
            </a:r>
            <a:endPar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lang="en-US" altLang="zh-CN" dirty="0">
              <a:solidFill>
                <a:prstClr val="black"/>
              </a:solidFill>
              <a:latin typeface="Calibri"/>
              <a:ea typeface="宋体" panose="02010600030101010101" pitchFamily="2" charset="-122"/>
            </a:endParaRPr>
          </a:p>
          <a:p>
            <a:pPr lvl="0" indent="457200">
              <a:defRPr/>
            </a:pPr>
            <a:r>
              <a:rPr lang="en-US" altLang="zh-CN" dirty="0">
                <a:solidFill>
                  <a:prstClr val="black"/>
                </a:solidFill>
              </a:rPr>
              <a:t>				</a:t>
            </a:r>
            <a:r>
              <a:rPr lang="en-US" altLang="zh-CN" dirty="0" smtClean="0">
                <a:solidFill>
                  <a:prstClr val="black"/>
                </a:solidFill>
              </a:rPr>
              <a:t>	</a:t>
            </a:r>
          </a:p>
          <a:p>
            <a:pPr lvl="0" indent="457200">
              <a:defRPr/>
            </a:pPr>
            <a:r>
              <a:rPr lang="en-US" altLang="zh-CN" dirty="0">
                <a:solidFill>
                  <a:prstClr val="black"/>
                </a:solidFill>
              </a:rPr>
              <a:t>	</a:t>
            </a:r>
            <a:r>
              <a:rPr lang="en-US" altLang="zh-CN" dirty="0" smtClean="0">
                <a:solidFill>
                  <a:prstClr val="black"/>
                </a:solidFill>
              </a:rPr>
              <a:t>				procedure </a:t>
            </a:r>
            <a:r>
              <a:rPr lang="en-US" altLang="zh-CN" dirty="0" err="1">
                <a:solidFill>
                  <a:prstClr val="black"/>
                </a:solidFill>
              </a:rPr>
              <a:t>mul</a:t>
            </a:r>
            <a:r>
              <a:rPr lang="en-US" altLang="zh-CN" dirty="0">
                <a:solidFill>
                  <a:prstClr val="black"/>
                </a:solidFill>
              </a:rPr>
              <a:t>(x, y) </a:t>
            </a:r>
            <a:endParaRPr lang="zh-CN" altLang="zh-CN" dirty="0">
              <a:solidFill>
                <a:prstClr val="black"/>
              </a:solidFill>
            </a:endParaRPr>
          </a:p>
          <a:p>
            <a:pPr lvl="0" indent="457200">
              <a:defRPr/>
            </a:pPr>
            <a:r>
              <a:rPr lang="en-US" altLang="zh-CN" dirty="0" smtClean="0">
                <a:solidFill>
                  <a:prstClr val="black"/>
                </a:solidFill>
              </a:rPr>
              <a:t>					{</a:t>
            </a:r>
            <a:r>
              <a:rPr lang="en-US" altLang="zh-CN" dirty="0">
                <a:solidFill>
                  <a:prstClr val="black"/>
                </a:solidFill>
              </a:rPr>
              <a:t>	</a:t>
            </a:r>
            <a:r>
              <a:rPr lang="en-US" altLang="zh-CN" dirty="0" smtClean="0">
                <a:solidFill>
                  <a:prstClr val="black"/>
                </a:solidFill>
              </a:rPr>
              <a:t>									          return </a:t>
            </a:r>
            <a:r>
              <a:rPr lang="en-US" altLang="zh-CN" dirty="0" err="1">
                <a:solidFill>
                  <a:prstClr val="black"/>
                </a:solidFill>
              </a:rPr>
              <a:t>expf</a:t>
            </a:r>
            <a:r>
              <a:rPr lang="en-US" altLang="zh-CN" dirty="0">
                <a:solidFill>
                  <a:prstClr val="black"/>
                </a:solidFill>
              </a:rPr>
              <a:t>[(</a:t>
            </a:r>
            <a:r>
              <a:rPr lang="en-US" altLang="zh-CN" dirty="0" err="1">
                <a:solidFill>
                  <a:prstClr val="black"/>
                </a:solidFill>
              </a:rPr>
              <a:t>logf</a:t>
            </a:r>
            <a:r>
              <a:rPr lang="en-US" altLang="zh-CN" dirty="0">
                <a:solidFill>
                  <a:prstClr val="black"/>
                </a:solidFill>
              </a:rPr>
              <a:t>[x]+</a:t>
            </a:r>
            <a:r>
              <a:rPr lang="en-US" altLang="zh-CN" dirty="0" err="1">
                <a:solidFill>
                  <a:prstClr val="black"/>
                </a:solidFill>
              </a:rPr>
              <a:t>logf</a:t>
            </a:r>
            <a:r>
              <a:rPr lang="en-US" altLang="zh-CN" dirty="0">
                <a:solidFill>
                  <a:prstClr val="black"/>
                </a:solidFill>
              </a:rPr>
              <a:t>[y</a:t>
            </a:r>
            <a:r>
              <a:rPr lang="en-US" altLang="zh-CN" dirty="0" smtClean="0">
                <a:solidFill>
                  <a:prstClr val="black"/>
                </a:solidFill>
              </a:rPr>
              <a:t>])];</a:t>
            </a:r>
            <a:endParaRPr lang="zh-CN" altLang="zh-CN" dirty="0">
              <a:solidFill>
                <a:prstClr val="black"/>
              </a:solidFill>
            </a:endParaRPr>
          </a:p>
          <a:p>
            <a:pPr lvl="0" indent="457200">
              <a:defRPr/>
            </a:pPr>
            <a:r>
              <a:rPr lang="en-US" altLang="zh-CN" dirty="0" smtClean="0">
                <a:solidFill>
                  <a:prstClr val="black"/>
                </a:solidFill>
              </a:rPr>
              <a:t>					}</a:t>
            </a:r>
            <a:endParaRPr lang="en-US" altLang="zh-CN" baseline="30000" dirty="0">
              <a:solidFill>
                <a:prstClr val="black"/>
              </a:solidFill>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30000" noProof="0" dirty="0">
              <a:ln>
                <a:noFill/>
              </a:ln>
              <a:solidFill>
                <a:prstClr val="black"/>
              </a:solidFill>
              <a:effectLst/>
              <a:uLnTx/>
              <a:uFillTx/>
              <a:latin typeface="Calibri"/>
              <a:ea typeface="宋体" panose="02010600030101010101" pitchFamily="2" charset="-122"/>
              <a:cs typeface="+mn-cs"/>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30000" noProof="0" dirty="0" smtClean="0">
              <a:ln>
                <a:noFill/>
              </a:ln>
              <a:solidFill>
                <a:prstClr val="black"/>
              </a:solidFill>
              <a:effectLst/>
              <a:uLnTx/>
              <a:uFillTx/>
              <a:latin typeface="Calibri"/>
              <a:ea typeface="宋体" panose="02010600030101010101" pitchFamily="2" charset="-122"/>
              <a:cs typeface="+mn-cs"/>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30000" noProof="0" dirty="0">
              <a:ln>
                <a:noFill/>
              </a:ln>
              <a:solidFill>
                <a:prstClr val="black"/>
              </a:solidFill>
              <a:effectLst/>
              <a:uLnTx/>
              <a:uFillTx/>
              <a:latin typeface="Calibri"/>
              <a:ea typeface="宋体" panose="02010600030101010101" pitchFamily="2" charset="-122"/>
              <a:cs typeface="+mn-cs"/>
            </a:endParaRPr>
          </a:p>
        </p:txBody>
      </p:sp>
      <p:pic>
        <p:nvPicPr>
          <p:cNvPr id="3" name="图片 2"/>
          <p:cNvPicPr>
            <a:picLocks noChangeAspect="1"/>
          </p:cNvPicPr>
          <p:nvPr/>
        </p:nvPicPr>
        <p:blipFill>
          <a:blip r:embed="rId5"/>
          <a:stretch>
            <a:fillRect/>
          </a:stretch>
        </p:blipFill>
        <p:spPr>
          <a:xfrm>
            <a:off x="781657" y="4008827"/>
            <a:ext cx="3787468" cy="1661304"/>
          </a:xfrm>
          <a:prstGeom prst="rect">
            <a:avLst/>
          </a:prstGeom>
        </p:spPr>
      </p:pic>
      <p:sp>
        <p:nvSpPr>
          <p:cNvPr id="6" name="矩形 5"/>
          <p:cNvSpPr/>
          <p:nvPr/>
        </p:nvSpPr>
        <p:spPr>
          <a:xfrm>
            <a:off x="5190306" y="3945704"/>
            <a:ext cx="3846190" cy="17875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850149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
        <p:nvSpPr>
          <p:cNvPr id="8" name="矩形 7"/>
          <p:cNvSpPr/>
          <p:nvPr/>
        </p:nvSpPr>
        <p:spPr>
          <a:xfrm>
            <a:off x="4355973" y="1297054"/>
            <a:ext cx="4334429" cy="4943666"/>
          </a:xfrm>
          <a:prstGeom prst="rect">
            <a:avLst/>
          </a:prstGeom>
          <a:solidFill>
            <a:schemeClr val="bg1"/>
          </a:soli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41"/>
          <p:cNvSpPr txBox="1"/>
          <p:nvPr/>
        </p:nvSpPr>
        <p:spPr>
          <a:xfrm>
            <a:off x="4764309" y="1484784"/>
            <a:ext cx="3449415" cy="4370379"/>
          </a:xfrm>
          <a:prstGeom prst="rect">
            <a:avLst/>
          </a:prstGeom>
          <a:noFill/>
        </p:spPr>
        <p:txBody>
          <a:bodyPr wrap="square" lIns="60911" tIns="30456" rIns="60911" bIns="30456" rtlCol="0">
            <a:spAutoFit/>
          </a:bodyPr>
          <a:lstStyle/>
          <a:p>
            <a:pPr indent="457200" algn="just"/>
            <a:r>
              <a:rPr lang="zh-CN" altLang="en-US" sz="2000" dirty="0"/>
              <a:t>设计两个二维表：乘法结果表和除法结果表，通过循环调用乘法或除法函数来生成表中的</a:t>
            </a:r>
            <a:r>
              <a:rPr lang="zh-CN" altLang="en-US" sz="2000" dirty="0" smtClean="0"/>
              <a:t>值</a:t>
            </a:r>
            <a:r>
              <a:rPr lang="zh-CN" altLang="en-US" sz="2000" dirty="0"/>
              <a:t>。</a:t>
            </a:r>
            <a:endParaRPr lang="en-US" altLang="zh-CN" sz="2000" dirty="0" smtClean="0"/>
          </a:p>
          <a:p>
            <a:pPr indent="457200" algn="just"/>
            <a:endParaRPr lang="en-US" altLang="zh-CN" sz="2000" dirty="0" smtClean="0"/>
          </a:p>
          <a:p>
            <a:pPr indent="457200" algn="just"/>
            <a:r>
              <a:rPr lang="zh-CN" altLang="en-US" sz="2000" dirty="0" smtClean="0"/>
              <a:t>当</a:t>
            </a:r>
            <a:r>
              <a:rPr lang="zh-CN" altLang="en-US" sz="2000" dirty="0"/>
              <a:t>想要得到</a:t>
            </a:r>
            <a:r>
              <a:rPr lang="en-US" altLang="zh-CN" sz="2000" dirty="0" smtClean="0"/>
              <a:t>GF(2</a:t>
            </a:r>
            <a:r>
              <a:rPr lang="en-US" altLang="zh-CN" sz="2000" baseline="30000" dirty="0" smtClean="0"/>
              <a:t>8</a:t>
            </a:r>
            <a:r>
              <a:rPr lang="en-US" altLang="zh-CN" sz="2000" dirty="0" smtClean="0"/>
              <a:t>)</a:t>
            </a:r>
            <a:r>
              <a:rPr lang="zh-CN" altLang="en-US" sz="2000" dirty="0"/>
              <a:t>上任意两个元素的相乘或相除结果，只需要查询对应二维表即可</a:t>
            </a:r>
            <a:r>
              <a:rPr lang="zh-CN" altLang="en-US" sz="2000" dirty="0" smtClean="0"/>
              <a:t>。</a:t>
            </a:r>
            <a:endParaRPr lang="en-US" altLang="zh-CN" sz="2000" dirty="0" smtClean="0"/>
          </a:p>
          <a:p>
            <a:pPr indent="457200" algn="just"/>
            <a:r>
              <a:rPr lang="zh-CN" altLang="en-US" sz="2000" dirty="0" smtClean="0"/>
              <a:t>例如</a:t>
            </a:r>
            <a:r>
              <a:rPr lang="zh-CN" altLang="en-US" sz="2000" dirty="0"/>
              <a:t>，计算</a:t>
            </a:r>
            <a:r>
              <a:rPr lang="en-US" altLang="zh-CN" sz="2000" dirty="0"/>
              <a:t>255×5</a:t>
            </a:r>
            <a:r>
              <a:rPr lang="zh-CN" altLang="en-US" sz="2000" dirty="0"/>
              <a:t>的结果，</a:t>
            </a:r>
            <a:r>
              <a:rPr lang="zh-CN" altLang="en-US" sz="2000" dirty="0" smtClean="0"/>
              <a:t>查询</a:t>
            </a:r>
            <a:r>
              <a:rPr lang="en-US" altLang="zh-CN" sz="2000" dirty="0" err="1" smtClean="0"/>
              <a:t>table_mul</a:t>
            </a:r>
            <a:r>
              <a:rPr lang="en-US" altLang="zh-CN" sz="2000" dirty="0" smtClean="0"/>
              <a:t>[255][5]</a:t>
            </a:r>
            <a:r>
              <a:rPr lang="zh-CN" altLang="en-US" sz="2000" dirty="0" smtClean="0"/>
              <a:t>，</a:t>
            </a:r>
            <a:r>
              <a:rPr lang="zh-CN" altLang="en-US" sz="2000" dirty="0"/>
              <a:t>得到相乘之后的结果</a:t>
            </a:r>
            <a:r>
              <a:rPr lang="zh-CN" altLang="en-US" sz="2000" dirty="0" smtClean="0"/>
              <a:t>；</a:t>
            </a:r>
            <a:endParaRPr lang="en-US" altLang="zh-CN" sz="2000" dirty="0" smtClean="0"/>
          </a:p>
          <a:p>
            <a:pPr indent="457200" algn="just"/>
            <a:r>
              <a:rPr lang="zh-CN" altLang="en-US" sz="2000" dirty="0" smtClean="0"/>
              <a:t>计算</a:t>
            </a:r>
            <a:r>
              <a:rPr lang="en-US" altLang="zh-CN" sz="2000" dirty="0"/>
              <a:t>5÷255</a:t>
            </a:r>
            <a:r>
              <a:rPr lang="zh-CN" altLang="en-US" sz="2000" dirty="0"/>
              <a:t>的结果，</a:t>
            </a:r>
            <a:r>
              <a:rPr lang="zh-CN" altLang="en-US" sz="2000" dirty="0" smtClean="0"/>
              <a:t>查询</a:t>
            </a:r>
            <a:r>
              <a:rPr lang="en-US" altLang="zh-CN" sz="2000" dirty="0" err="1" smtClean="0"/>
              <a:t>table_div</a:t>
            </a:r>
            <a:r>
              <a:rPr lang="en-US" altLang="zh-CN" sz="2000" dirty="0" smtClean="0"/>
              <a:t>[5][255],</a:t>
            </a:r>
            <a:r>
              <a:rPr lang="zh-CN" altLang="en-US" sz="2000" dirty="0" smtClean="0"/>
              <a:t>得到</a:t>
            </a:r>
            <a:r>
              <a:rPr lang="zh-CN" altLang="en-US" sz="2000" dirty="0"/>
              <a:t>相除之后的结果。</a:t>
            </a:r>
            <a:endParaRPr lang="en-GB" altLang="zh-CN" sz="2000" dirty="0">
              <a:latin typeface="微软雅黑" panose="020B0503020204020204" pitchFamily="34" charset="-122"/>
              <a:ea typeface="微软雅黑" panose="020B0503020204020204" pitchFamily="34" charset="-122"/>
              <a:cs typeface="+mn-ea"/>
              <a:sym typeface="+mn-lt"/>
            </a:endParaRPr>
          </a:p>
        </p:txBody>
      </p:sp>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394347"/>
            <a:ext cx="901700"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椭圆 15"/>
          <p:cNvSpPr/>
          <p:nvPr/>
        </p:nvSpPr>
        <p:spPr>
          <a:xfrm>
            <a:off x="3449015" y="4613890"/>
            <a:ext cx="189375" cy="189375"/>
          </a:xfrm>
          <a:prstGeom prst="ellipse">
            <a:avLst/>
          </a:prstGeom>
          <a:gradFill>
            <a:gsLst>
              <a:gs pos="0">
                <a:srgbClr val="6483B3"/>
              </a:gs>
              <a:gs pos="100000">
                <a:srgbClr val="334E6E"/>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rgbClr val="C00000"/>
              </a:solidFill>
              <a:latin typeface="微软雅黑" pitchFamily="34" charset="-122"/>
              <a:ea typeface="微软雅黑" pitchFamily="34" charset="-122"/>
            </a:endParaRPr>
          </a:p>
        </p:txBody>
      </p:sp>
      <p:pic>
        <p:nvPicPr>
          <p:cNvPr id="61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9777" y="4102274"/>
            <a:ext cx="658813"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471" y="1700808"/>
            <a:ext cx="896937"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7965" y="3890265"/>
            <a:ext cx="706437"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4070" y="2708920"/>
            <a:ext cx="658813"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椭圆 19"/>
          <p:cNvSpPr/>
          <p:nvPr/>
        </p:nvSpPr>
        <p:spPr>
          <a:xfrm>
            <a:off x="565251" y="4571722"/>
            <a:ext cx="189375" cy="189375"/>
          </a:xfrm>
          <a:prstGeom prst="ellipse">
            <a:avLst/>
          </a:prstGeom>
          <a:gradFill>
            <a:gsLst>
              <a:gs pos="0">
                <a:srgbClr val="6483B3"/>
              </a:gs>
              <a:gs pos="100000">
                <a:srgbClr val="334E6E"/>
              </a:gs>
            </a:gsLst>
            <a:lin ang="2700000" scaled="0"/>
          </a:gra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rgbClr val="C00000"/>
              </a:solidFill>
              <a:latin typeface="微软雅黑" pitchFamily="34" charset="-122"/>
              <a:ea typeface="微软雅黑" pitchFamily="34" charset="-122"/>
            </a:endParaRPr>
          </a:p>
        </p:txBody>
      </p:sp>
      <p:pic>
        <p:nvPicPr>
          <p:cNvPr id="21" name="Picture 3" descr="E:\融媒体\图标8.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1024805" y="2945648"/>
            <a:ext cx="2773908" cy="461665"/>
          </a:xfrm>
          <a:prstGeom prst="rect">
            <a:avLst/>
          </a:prstGeom>
          <a:noFill/>
        </p:spPr>
        <p:txBody>
          <a:bodyPr wrap="square" rtlCol="0">
            <a:spAutoFit/>
          </a:bodyPr>
          <a:lstStyle/>
          <a:p>
            <a:r>
              <a:rPr lang="zh-CN" altLang="en-US" sz="2400" dirty="0" smtClean="0">
                <a:solidFill>
                  <a:srgbClr val="FF0000"/>
                </a:solidFill>
              </a:rPr>
              <a:t>二维查表方法</a:t>
            </a:r>
            <a:endParaRPr lang="zh-CN" altLang="en-US" sz="2400" dirty="0">
              <a:solidFill>
                <a:srgbClr val="FF0000"/>
              </a:solidFill>
            </a:endParaRPr>
          </a:p>
        </p:txBody>
      </p:sp>
    </p:spTree>
    <p:extLst>
      <p:ext uri="{BB962C8B-B14F-4D97-AF65-F5344CB8AC3E}">
        <p14:creationId xmlns:p14="http://schemas.microsoft.com/office/powerpoint/2010/main" val="76099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2279"/>
            <a:ext cx="9144000" cy="945214"/>
            <a:chOff x="0" y="-22279"/>
            <a:chExt cx="9144000" cy="945214"/>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gr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8" name="图片 7">
            <a:extLst>
              <a:ext uri="{FF2B5EF4-FFF2-40B4-BE49-F238E27FC236}">
                <a16:creationId xmlns:a16="http://schemas.microsoft.com/office/drawing/2014/main" id="{7512F4F8-A71B-4A38-A9D6-E8CDDDC58046}"/>
              </a:ext>
            </a:extLst>
          </p:cNvPr>
          <p:cNvPicPr>
            <a:picLocks noChangeAspect="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052988" y="1700808"/>
            <a:ext cx="3038023" cy="3024336"/>
          </a:xfrm>
          <a:prstGeom prst="rect">
            <a:avLst/>
          </a:prstGeom>
        </p:spPr>
      </p:pic>
      <p:sp>
        <p:nvSpPr>
          <p:cNvPr id="9" name="椭圆 8">
            <a:extLst>
              <a:ext uri="{FF2B5EF4-FFF2-40B4-BE49-F238E27FC236}">
                <a16:creationId xmlns:a16="http://schemas.microsoft.com/office/drawing/2014/main" id="{C5276586-13BE-425B-BA5D-63EB856CE384}"/>
              </a:ext>
            </a:extLst>
          </p:cNvPr>
          <p:cNvSpPr/>
          <p:nvPr/>
        </p:nvSpPr>
        <p:spPr>
          <a:xfrm>
            <a:off x="2882119" y="2852936"/>
            <a:ext cx="3744416" cy="113414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smtClean="0">
                <a:solidFill>
                  <a:schemeClr val="tx2"/>
                </a:solidFill>
              </a:rPr>
              <a:t>04 </a:t>
            </a:r>
            <a:r>
              <a:rPr lang="zh-CN" altLang="en-US" sz="4400" dirty="0" smtClean="0">
                <a:solidFill>
                  <a:schemeClr val="tx2"/>
                </a:solidFill>
              </a:rPr>
              <a:t>实验</a:t>
            </a:r>
            <a:endParaRPr lang="en-US" altLang="zh-CN" sz="4400" dirty="0" smtClean="0">
              <a:solidFill>
                <a:schemeClr val="tx2"/>
              </a:solidFill>
            </a:endParaRPr>
          </a:p>
          <a:p>
            <a:pPr algn="ctr"/>
            <a:r>
              <a:rPr lang="zh-CN" altLang="en-US" sz="4400" dirty="0" smtClean="0">
                <a:solidFill>
                  <a:schemeClr val="tx2"/>
                </a:solidFill>
              </a:rPr>
              <a:t>测试</a:t>
            </a:r>
            <a:endParaRPr lang="zh-CN" altLang="en-US" sz="4400" dirty="0">
              <a:solidFill>
                <a:schemeClr val="tx2"/>
              </a:solidFill>
            </a:endParaRPr>
          </a:p>
        </p:txBody>
      </p:sp>
      <p:pic>
        <p:nvPicPr>
          <p:cNvPr id="10" name="Picture 3" descr="E:\融媒体\图标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8958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0531" y="1185372"/>
            <a:ext cx="2997305" cy="95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6"/>
          <p:cNvSpPr txBox="1"/>
          <p:nvPr/>
        </p:nvSpPr>
        <p:spPr>
          <a:xfrm>
            <a:off x="3563888" y="1462686"/>
            <a:ext cx="3994820" cy="400110"/>
          </a:xfrm>
          <a:prstGeom prst="rect">
            <a:avLst/>
          </a:prstGeom>
          <a:solidFill>
            <a:schemeClr val="bg1"/>
          </a:solidFill>
          <a:ln>
            <a:noFill/>
          </a:ln>
          <a:effectLst>
            <a:outerShdw blurRad="190500" dist="38100" dir="2700000" algn="tl" rotWithShape="0">
              <a:prstClr val="black">
                <a:alpha val="20000"/>
              </a:prstClr>
            </a:outerShdw>
          </a:effectLst>
        </p:spPr>
        <p:txBody>
          <a:bodyPr wrap="square" rtlCol="0">
            <a:spAutoFit/>
          </a:bodyPr>
          <a:lstStyle/>
          <a:p>
            <a:pPr algn="ctr"/>
            <a:r>
              <a:rPr lang="zh-CN" altLang="en-US" sz="2000" b="1" dirty="0" smtClean="0">
                <a:solidFill>
                  <a:schemeClr val="tx1">
                    <a:lumMod val="75000"/>
                    <a:lumOff val="25000"/>
                  </a:schemeClr>
                </a:solidFill>
                <a:latin typeface="微软雅黑" panose="020B0503020204020204" pitchFamily="34" charset="-122"/>
                <a:ea typeface="微软雅黑" panose="020B0503020204020204" pitchFamily="34" charset="-122"/>
              </a:rPr>
              <a:t>算法效率测试</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TextBox 41"/>
          <p:cNvSpPr txBox="1"/>
          <p:nvPr/>
        </p:nvSpPr>
        <p:spPr>
          <a:xfrm>
            <a:off x="611560" y="2485894"/>
            <a:ext cx="7920880" cy="3754826"/>
          </a:xfrm>
          <a:prstGeom prst="rect">
            <a:avLst/>
          </a:prstGeom>
          <a:noFill/>
        </p:spPr>
        <p:txBody>
          <a:bodyPr wrap="square" lIns="60911" tIns="30456" rIns="60911" bIns="30456" rtlCol="0">
            <a:spAutoFit/>
          </a:bodyPr>
          <a:lstStyle/>
          <a:p>
            <a:pPr indent="457200" algn="just"/>
            <a:r>
              <a:rPr lang="zh-CN" altLang="en-US" sz="2000" dirty="0"/>
              <a:t>在</a:t>
            </a:r>
            <a:r>
              <a:rPr lang="en-US" altLang="zh-CN" sz="2000" dirty="0" smtClean="0"/>
              <a:t>GF(</a:t>
            </a:r>
            <a:r>
              <a:rPr lang="en-US" altLang="zh-CN" sz="2000" dirty="0"/>
              <a:t>2</a:t>
            </a:r>
            <a:r>
              <a:rPr lang="en-US" altLang="zh-CN" sz="2000" baseline="30000" dirty="0"/>
              <a:t>8</a:t>
            </a:r>
            <a:r>
              <a:rPr lang="en-US" altLang="zh-CN" sz="2000" dirty="0" smtClean="0"/>
              <a:t>)</a:t>
            </a:r>
            <a:r>
              <a:rPr lang="zh-CN" altLang="en-US" sz="2000" dirty="0"/>
              <a:t>上，</a:t>
            </a:r>
            <a:r>
              <a:rPr lang="zh-CN" altLang="en-US" sz="2000" dirty="0" smtClean="0"/>
              <a:t>分别调用四</a:t>
            </a:r>
            <a:r>
              <a:rPr lang="zh-CN" altLang="en-US" sz="2000" dirty="0"/>
              <a:t>种</a:t>
            </a:r>
            <a:r>
              <a:rPr lang="zh-CN" altLang="en-US" sz="2000" dirty="0" smtClean="0"/>
              <a:t>乘法</a:t>
            </a:r>
            <a:r>
              <a:rPr lang="en-US" altLang="zh-CN" sz="2000" dirty="0" smtClean="0"/>
              <a:t>(</a:t>
            </a:r>
            <a:r>
              <a:rPr lang="zh-CN" altLang="en-US" sz="2000" dirty="0" smtClean="0"/>
              <a:t>左</a:t>
            </a:r>
            <a:r>
              <a:rPr lang="en-US" altLang="zh-CN" sz="2000" dirty="0" smtClean="0"/>
              <a:t>)/</a:t>
            </a:r>
            <a:r>
              <a:rPr lang="zh-CN" altLang="en-US" sz="2000" dirty="0" smtClean="0"/>
              <a:t>除法</a:t>
            </a:r>
            <a:r>
              <a:rPr lang="en-US" altLang="zh-CN" sz="2000" dirty="0" smtClean="0"/>
              <a:t>(</a:t>
            </a:r>
            <a:r>
              <a:rPr lang="zh-CN" altLang="en-US" sz="2000" dirty="0" smtClean="0"/>
              <a:t>右</a:t>
            </a:r>
            <a:r>
              <a:rPr lang="en-US" altLang="zh-CN" sz="2000" dirty="0" smtClean="0"/>
              <a:t>)</a:t>
            </a:r>
            <a:r>
              <a:rPr lang="zh-CN" altLang="en-US" sz="2000" dirty="0" smtClean="0"/>
              <a:t>运算方法多次</a:t>
            </a:r>
            <a:r>
              <a:rPr lang="zh-CN" altLang="en-US" sz="2000" dirty="0"/>
              <a:t>，得到的时间效率图</a:t>
            </a:r>
            <a:r>
              <a:rPr lang="zh-CN" altLang="en-US" sz="2000" dirty="0" smtClean="0"/>
              <a:t>如下：</a:t>
            </a:r>
            <a:endParaRPr lang="en-US" altLang="zh-CN" sz="2000" dirty="0" smtClean="0"/>
          </a:p>
          <a:p>
            <a:pPr indent="457200" algn="just"/>
            <a:endParaRPr lang="en-US" altLang="zh-CN" sz="2000" dirty="0">
              <a:latin typeface="微软雅黑" panose="020B0503020204020204" pitchFamily="34" charset="-122"/>
              <a:ea typeface="微软雅黑" panose="020B0503020204020204" pitchFamily="34" charset="-122"/>
              <a:cs typeface="+mn-ea"/>
              <a:sym typeface="+mn-lt"/>
            </a:endParaRPr>
          </a:p>
          <a:p>
            <a:pPr indent="457200" algn="just"/>
            <a:endParaRPr lang="en-US" altLang="zh-CN" sz="2000" dirty="0" smtClean="0">
              <a:latin typeface="微软雅黑" panose="020B0503020204020204" pitchFamily="34" charset="-122"/>
              <a:ea typeface="微软雅黑" panose="020B0503020204020204" pitchFamily="34" charset="-122"/>
              <a:cs typeface="+mn-ea"/>
              <a:sym typeface="+mn-lt"/>
            </a:endParaRPr>
          </a:p>
          <a:p>
            <a:pPr indent="457200" algn="just"/>
            <a:endParaRPr lang="en-US" altLang="zh-CN" sz="2000" dirty="0">
              <a:latin typeface="微软雅黑" panose="020B0503020204020204" pitchFamily="34" charset="-122"/>
              <a:ea typeface="微软雅黑" panose="020B0503020204020204" pitchFamily="34" charset="-122"/>
              <a:cs typeface="+mn-ea"/>
              <a:sym typeface="+mn-lt"/>
            </a:endParaRPr>
          </a:p>
          <a:p>
            <a:pPr indent="457200" algn="just"/>
            <a:endParaRPr lang="en-US" altLang="zh-CN" sz="2000" dirty="0" smtClean="0">
              <a:latin typeface="微软雅黑" panose="020B0503020204020204" pitchFamily="34" charset="-122"/>
              <a:ea typeface="微软雅黑" panose="020B0503020204020204" pitchFamily="34" charset="-122"/>
              <a:cs typeface="+mn-ea"/>
              <a:sym typeface="+mn-lt"/>
            </a:endParaRPr>
          </a:p>
          <a:p>
            <a:pPr indent="457200" algn="just"/>
            <a:endParaRPr lang="en-US" altLang="zh-CN" sz="2000" dirty="0">
              <a:latin typeface="微软雅黑" panose="020B0503020204020204" pitchFamily="34" charset="-122"/>
              <a:ea typeface="微软雅黑" panose="020B0503020204020204" pitchFamily="34" charset="-122"/>
              <a:cs typeface="+mn-ea"/>
              <a:sym typeface="+mn-lt"/>
            </a:endParaRPr>
          </a:p>
          <a:p>
            <a:pPr indent="457200" algn="just"/>
            <a:endParaRPr lang="en-US" altLang="zh-CN" sz="2000" dirty="0" smtClean="0">
              <a:latin typeface="微软雅黑" panose="020B0503020204020204" pitchFamily="34" charset="-122"/>
              <a:ea typeface="微软雅黑" panose="020B0503020204020204" pitchFamily="34" charset="-122"/>
              <a:cs typeface="+mn-ea"/>
              <a:sym typeface="+mn-lt"/>
            </a:endParaRPr>
          </a:p>
          <a:p>
            <a:pPr indent="457200" algn="just"/>
            <a:endParaRPr lang="en-US" altLang="zh-CN" sz="2000" dirty="0">
              <a:latin typeface="微软雅黑" panose="020B0503020204020204" pitchFamily="34" charset="-122"/>
              <a:ea typeface="微软雅黑" panose="020B0503020204020204" pitchFamily="34" charset="-122"/>
              <a:cs typeface="+mn-ea"/>
              <a:sym typeface="+mn-lt"/>
            </a:endParaRPr>
          </a:p>
          <a:p>
            <a:pPr indent="457200" algn="just"/>
            <a:endParaRPr lang="en-US" altLang="zh-CN" sz="2000" dirty="0" smtClean="0">
              <a:latin typeface="微软雅黑" panose="020B0503020204020204" pitchFamily="34" charset="-122"/>
              <a:ea typeface="微软雅黑" panose="020B0503020204020204" pitchFamily="34" charset="-122"/>
              <a:cs typeface="+mn-ea"/>
              <a:sym typeface="+mn-lt"/>
            </a:endParaRPr>
          </a:p>
          <a:p>
            <a:pPr indent="457200" algn="just"/>
            <a:endParaRPr lang="en-US" altLang="zh-CN" sz="2000" dirty="0">
              <a:latin typeface="微软雅黑" panose="020B0503020204020204" pitchFamily="34" charset="-122"/>
              <a:ea typeface="微软雅黑" panose="020B0503020204020204" pitchFamily="34" charset="-122"/>
              <a:cs typeface="+mn-ea"/>
              <a:sym typeface="+mn-lt"/>
            </a:endParaRPr>
          </a:p>
          <a:p>
            <a:pPr indent="457200" algn="just"/>
            <a:endParaRPr lang="en-GB" altLang="zh-CN" sz="2000" dirty="0">
              <a:latin typeface="微软雅黑" panose="020B0503020204020204" pitchFamily="34" charset="-122"/>
              <a:ea typeface="微软雅黑" panose="020B0503020204020204" pitchFamily="34" charset="-122"/>
              <a:cs typeface="+mn-ea"/>
              <a:sym typeface="+mn-lt"/>
            </a:endParaRPr>
          </a:p>
        </p:txBody>
      </p:sp>
      <p:pic>
        <p:nvPicPr>
          <p:cNvPr id="11"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13" name="图片 12"/>
          <p:cNvPicPr/>
          <p:nvPr/>
        </p:nvPicPr>
        <p:blipFill>
          <a:blip r:embed="rId6">
            <a:extLst>
              <a:ext uri="{28A0092B-C50C-407E-A947-70E740481C1C}">
                <a14:useLocalDpi xmlns:a14="http://schemas.microsoft.com/office/drawing/2010/main" val="0"/>
              </a:ext>
            </a:extLst>
          </a:blip>
          <a:srcRect/>
          <a:stretch>
            <a:fillRect/>
          </a:stretch>
        </p:blipFill>
        <p:spPr bwMode="auto">
          <a:xfrm>
            <a:off x="0" y="2955958"/>
            <a:ext cx="4490720" cy="3443605"/>
          </a:xfrm>
          <a:prstGeom prst="rect">
            <a:avLst/>
          </a:prstGeom>
          <a:noFill/>
          <a:ln>
            <a:noFill/>
          </a:ln>
        </p:spPr>
      </p:pic>
      <p:pic>
        <p:nvPicPr>
          <p:cNvPr id="14" name="图片 13"/>
          <p:cNvPicPr/>
          <p:nvPr/>
        </p:nvPicPr>
        <p:blipFill>
          <a:blip r:embed="rId7">
            <a:extLst>
              <a:ext uri="{28A0092B-C50C-407E-A947-70E740481C1C}">
                <a14:useLocalDpi xmlns:a14="http://schemas.microsoft.com/office/drawing/2010/main" val="0"/>
              </a:ext>
            </a:extLst>
          </a:blip>
          <a:srcRect/>
          <a:stretch>
            <a:fillRect/>
          </a:stretch>
        </p:blipFill>
        <p:spPr bwMode="auto">
          <a:xfrm>
            <a:off x="3851920" y="2976495"/>
            <a:ext cx="4491355" cy="3449320"/>
          </a:xfrm>
          <a:prstGeom prst="rect">
            <a:avLst/>
          </a:prstGeom>
          <a:noFill/>
          <a:ln>
            <a:noFill/>
          </a:ln>
        </p:spPr>
      </p:pic>
    </p:spTree>
    <p:extLst>
      <p:ext uri="{BB962C8B-B14F-4D97-AF65-F5344CB8AC3E}">
        <p14:creationId xmlns:p14="http://schemas.microsoft.com/office/powerpoint/2010/main" val="176783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0531" y="1185372"/>
            <a:ext cx="2997305" cy="95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6"/>
          <p:cNvSpPr txBox="1"/>
          <p:nvPr/>
        </p:nvSpPr>
        <p:spPr>
          <a:xfrm>
            <a:off x="3563888" y="1462686"/>
            <a:ext cx="3994820" cy="400110"/>
          </a:xfrm>
          <a:prstGeom prst="rect">
            <a:avLst/>
          </a:prstGeom>
          <a:solidFill>
            <a:schemeClr val="bg1"/>
          </a:solidFill>
          <a:ln>
            <a:noFill/>
          </a:ln>
          <a:effectLst>
            <a:outerShdw blurRad="190500" dist="38100" dir="2700000" algn="tl" rotWithShape="0">
              <a:prstClr val="black">
                <a:alpha val="2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算法效率测试</a:t>
            </a:r>
            <a:endParaRPr kumimoji="0" lang="zh-CN" altLang="en-US" sz="20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TextBox 41"/>
          <p:cNvSpPr txBox="1"/>
          <p:nvPr/>
        </p:nvSpPr>
        <p:spPr>
          <a:xfrm>
            <a:off x="611560" y="2485894"/>
            <a:ext cx="7920880" cy="3447049"/>
          </a:xfrm>
          <a:prstGeom prst="rect">
            <a:avLst/>
          </a:prstGeom>
          <a:noFill/>
        </p:spPr>
        <p:txBody>
          <a:bodyPr wrap="square" lIns="60911" tIns="30456" rIns="60911" bIns="30456" rtlCol="0">
            <a:spAutoFit/>
          </a:bodyPr>
          <a:lstStyle/>
          <a:p>
            <a:pPr marL="0" marR="0" lvl="0" indent="457200" algn="just" defTabSz="914400" rtl="0" eaLnBrk="1" fontAlgn="auto" latinLnBrk="0" hangingPunct="1">
              <a:lnSpc>
                <a:spcPct val="100000"/>
              </a:lnSpc>
              <a:spcBef>
                <a:spcPts val="0"/>
              </a:spcBef>
              <a:spcAft>
                <a:spcPts val="0"/>
              </a:spcAft>
              <a:buClrTx/>
              <a:buSzTx/>
              <a:buFontTx/>
              <a:buNone/>
              <a:tabLst/>
              <a:defRPr/>
            </a:pPr>
            <a:r>
              <a:rPr lang="zh-CN" altLang="en-US" sz="2000" dirty="0" smtClean="0">
                <a:solidFill>
                  <a:prstClr val="black"/>
                </a:solidFill>
                <a:latin typeface="Calibri"/>
                <a:ea typeface="宋体" panose="02010600030101010101" pitchFamily="2" charset="-122"/>
              </a:rPr>
              <a:t>运算时间的减少程度</a:t>
            </a:r>
            <a:r>
              <a:rPr kumimoji="0" lang="zh-CN" altLang="en-US"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图如下</a:t>
            </a:r>
            <a:r>
              <a:rPr lang="zh-CN" altLang="en-US" sz="2000" dirty="0" smtClean="0">
                <a:solidFill>
                  <a:prstClr val="black"/>
                </a:solidFill>
                <a:latin typeface="Calibri"/>
                <a:ea typeface="宋体" panose="02010600030101010101" pitchFamily="2" charset="-122"/>
                <a:sym typeface="Wingdings" panose="05000000000000000000" pitchFamily="2" charset="2"/>
              </a:rPr>
              <a:t>：   </a:t>
            </a:r>
            <a:r>
              <a:rPr lang="en-US" altLang="zh-CN" sz="2000" dirty="0" smtClean="0">
                <a:solidFill>
                  <a:prstClr val="black"/>
                </a:solidFill>
                <a:latin typeface="Calibri"/>
                <a:ea typeface="宋体" panose="02010600030101010101" pitchFamily="2" charset="-122"/>
                <a:sym typeface="Wingdings" panose="05000000000000000000" pitchFamily="2" charset="2"/>
              </a:rPr>
              <a:t>(</a:t>
            </a:r>
            <a:r>
              <a:rPr lang="zh-CN" altLang="en-US" sz="2000" dirty="0" smtClean="0">
                <a:solidFill>
                  <a:prstClr val="black"/>
                </a:solidFill>
                <a:latin typeface="Calibri"/>
                <a:ea typeface="宋体" panose="02010600030101010101" pitchFamily="2" charset="-122"/>
                <a:sym typeface="Wingdings" panose="05000000000000000000" pitchFamily="2" charset="2"/>
              </a:rPr>
              <a:t>左乘法、右除法</a:t>
            </a:r>
            <a:r>
              <a:rPr lang="en-US" altLang="zh-CN" sz="2000" dirty="0" smtClean="0">
                <a:solidFill>
                  <a:prstClr val="black"/>
                </a:solidFill>
                <a:latin typeface="Calibri"/>
                <a:ea typeface="宋体" panose="02010600030101010101" pitchFamily="2" charset="-122"/>
                <a:sym typeface="Wingdings" panose="05000000000000000000" pitchFamily="2" charset="2"/>
              </a:rPr>
              <a:t>)</a:t>
            </a:r>
            <a:endPar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GB"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pic>
        <p:nvPicPr>
          <p:cNvPr id="11"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15" name="图片 14"/>
          <p:cNvPicPr/>
          <p:nvPr/>
        </p:nvPicPr>
        <p:blipFill>
          <a:blip r:embed="rId6">
            <a:extLst>
              <a:ext uri="{28A0092B-C50C-407E-A947-70E740481C1C}">
                <a14:useLocalDpi xmlns:a14="http://schemas.microsoft.com/office/drawing/2010/main" val="0"/>
              </a:ext>
            </a:extLst>
          </a:blip>
          <a:srcRect/>
          <a:stretch>
            <a:fillRect/>
          </a:stretch>
        </p:blipFill>
        <p:spPr bwMode="auto">
          <a:xfrm>
            <a:off x="-108520" y="2976495"/>
            <a:ext cx="4490720" cy="3443605"/>
          </a:xfrm>
          <a:prstGeom prst="rect">
            <a:avLst/>
          </a:prstGeom>
          <a:noFill/>
          <a:ln>
            <a:noFill/>
          </a:ln>
        </p:spPr>
      </p:pic>
      <p:pic>
        <p:nvPicPr>
          <p:cNvPr id="16" name="图片 15"/>
          <p:cNvPicPr/>
          <p:nvPr/>
        </p:nvPicPr>
        <p:blipFill>
          <a:blip r:embed="rId7">
            <a:extLst>
              <a:ext uri="{28A0092B-C50C-407E-A947-70E740481C1C}">
                <a14:useLocalDpi xmlns:a14="http://schemas.microsoft.com/office/drawing/2010/main" val="0"/>
              </a:ext>
            </a:extLst>
          </a:blip>
          <a:srcRect/>
          <a:stretch>
            <a:fillRect/>
          </a:stretch>
        </p:blipFill>
        <p:spPr bwMode="auto">
          <a:xfrm>
            <a:off x="3851920" y="2976495"/>
            <a:ext cx="4490720" cy="3443605"/>
          </a:xfrm>
          <a:prstGeom prst="rect">
            <a:avLst/>
          </a:prstGeom>
          <a:noFill/>
          <a:ln>
            <a:noFill/>
          </a:ln>
        </p:spPr>
      </p:pic>
    </p:spTree>
    <p:extLst>
      <p:ext uri="{BB962C8B-B14F-4D97-AF65-F5344CB8AC3E}">
        <p14:creationId xmlns:p14="http://schemas.microsoft.com/office/powerpoint/2010/main" val="349065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0531" y="1185372"/>
            <a:ext cx="2997305" cy="95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6"/>
          <p:cNvSpPr txBox="1"/>
          <p:nvPr/>
        </p:nvSpPr>
        <p:spPr>
          <a:xfrm>
            <a:off x="3563888" y="1462686"/>
            <a:ext cx="3994820" cy="400110"/>
          </a:xfrm>
          <a:prstGeom prst="rect">
            <a:avLst/>
          </a:prstGeom>
          <a:solidFill>
            <a:schemeClr val="bg1"/>
          </a:solidFill>
          <a:ln>
            <a:noFill/>
          </a:ln>
          <a:effectLst>
            <a:outerShdw blurRad="190500" dist="38100" dir="2700000" algn="tl" rotWithShape="0">
              <a:prstClr val="black">
                <a:alpha val="2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随机线性网络编解码测试</a:t>
            </a:r>
            <a:endParaRPr kumimoji="0" lang="zh-CN" altLang="en-US" sz="20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TextBox 41"/>
          <p:cNvSpPr txBox="1"/>
          <p:nvPr/>
        </p:nvSpPr>
        <p:spPr>
          <a:xfrm>
            <a:off x="611560" y="2160648"/>
            <a:ext cx="7920880" cy="3754826"/>
          </a:xfrm>
          <a:prstGeom prst="rect">
            <a:avLst/>
          </a:prstGeom>
          <a:noFill/>
        </p:spPr>
        <p:txBody>
          <a:bodyPr wrap="square" lIns="60911" tIns="30456" rIns="60911" bIns="30456" rtlCol="0">
            <a:spAutoFit/>
          </a:bodyPr>
          <a:lstStyle/>
          <a:p>
            <a:pPr lvl="0" indent="457200" algn="just"/>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在</a:t>
            </a:r>
            <a:r>
              <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GF(</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a:t>
            </a:r>
            <a:r>
              <a:rPr kumimoji="0" lang="en-US" altLang="zh-CN" sz="2000" b="0" i="0" u="none" strike="noStrike" kern="1200" cap="none" spc="0" normalizeH="0" baseline="30000" noProof="0" dirty="0">
                <a:ln>
                  <a:noFill/>
                </a:ln>
                <a:solidFill>
                  <a:prstClr val="black"/>
                </a:solidFill>
                <a:effectLst/>
                <a:uLnTx/>
                <a:uFillTx/>
                <a:latin typeface="Calibri"/>
                <a:ea typeface="宋体" panose="02010600030101010101" pitchFamily="2" charset="-122"/>
                <a:cs typeface="+mn-cs"/>
              </a:rPr>
              <a:t>8</a:t>
            </a:r>
            <a:r>
              <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上</a:t>
            </a:r>
            <a:r>
              <a:rPr lang="zh-CN" altLang="en-US" sz="2000" dirty="0">
                <a:solidFill>
                  <a:prstClr val="black"/>
                </a:solidFill>
              </a:rPr>
              <a:t>，</a:t>
            </a:r>
            <a:r>
              <a:rPr lang="zh-CN" altLang="en-US" sz="2000" dirty="0" smtClean="0">
                <a:solidFill>
                  <a:prstClr val="black"/>
                </a:solidFill>
              </a:rPr>
              <a:t>使用</a:t>
            </a:r>
            <a:r>
              <a:rPr lang="en-US" altLang="zh-CN" sz="2000" dirty="0" smtClean="0">
                <a:solidFill>
                  <a:prstClr val="black"/>
                </a:solidFill>
              </a:rPr>
              <a:t>20×20(10×10)</a:t>
            </a:r>
            <a:r>
              <a:rPr lang="zh-CN" altLang="en-US" sz="2000" dirty="0" smtClean="0">
                <a:solidFill>
                  <a:prstClr val="black"/>
                </a:solidFill>
              </a:rPr>
              <a:t>大小</a:t>
            </a:r>
            <a:r>
              <a:rPr lang="zh-CN" altLang="en-US" sz="2000" dirty="0">
                <a:solidFill>
                  <a:prstClr val="black"/>
                </a:solidFill>
              </a:rPr>
              <a:t>的随机编码矩阵，测试编码和解码不同大小数据</a:t>
            </a:r>
            <a:r>
              <a:rPr lang="zh-CN" altLang="en-US" sz="2000" dirty="0" smtClean="0">
                <a:solidFill>
                  <a:prstClr val="black"/>
                </a:solidFill>
              </a:rPr>
              <a:t>块</a:t>
            </a:r>
            <a:r>
              <a:rPr lang="en-US" altLang="zh-CN" sz="2000" dirty="0" smtClean="0">
                <a:solidFill>
                  <a:prstClr val="black"/>
                </a:solidFill>
              </a:rPr>
              <a:t>(</a:t>
            </a:r>
            <a:r>
              <a:rPr lang="zh-CN" altLang="en-US" sz="2000" dirty="0" smtClean="0">
                <a:solidFill>
                  <a:prstClr val="black"/>
                </a:solidFill>
              </a:rPr>
              <a:t>一行数据</a:t>
            </a:r>
            <a:r>
              <a:rPr lang="en-US" altLang="zh-CN" sz="2000" dirty="0" smtClean="0">
                <a:solidFill>
                  <a:prstClr val="black"/>
                </a:solidFill>
              </a:rPr>
              <a:t>)</a:t>
            </a:r>
            <a:r>
              <a:rPr lang="zh-CN" altLang="en-US" sz="2000" dirty="0" smtClean="0">
                <a:solidFill>
                  <a:prstClr val="black"/>
                </a:solidFill>
              </a:rPr>
              <a:t>的</a:t>
            </a:r>
            <a:r>
              <a:rPr lang="zh-CN" altLang="en-US" sz="2000" dirty="0">
                <a:solidFill>
                  <a:prstClr val="black"/>
                </a:solidFill>
              </a:rPr>
              <a:t>时间效率，变量为待编码数据块</a:t>
            </a:r>
            <a:r>
              <a:rPr lang="en-US" altLang="zh-CN" sz="2000" dirty="0">
                <a:solidFill>
                  <a:prstClr val="black"/>
                </a:solidFill>
              </a:rPr>
              <a:t>X</a:t>
            </a:r>
            <a:r>
              <a:rPr lang="zh-CN" altLang="en-US" sz="2000" dirty="0">
                <a:solidFill>
                  <a:prstClr val="black"/>
                </a:solidFill>
              </a:rPr>
              <a:t>的每一行</a:t>
            </a:r>
            <a:r>
              <a:rPr lang="en-US" altLang="zh-CN" sz="2000" dirty="0">
                <a:solidFill>
                  <a:prstClr val="black"/>
                </a:solidFill>
              </a:rPr>
              <a:t>(X1)</a:t>
            </a:r>
            <a:r>
              <a:rPr lang="zh-CN" altLang="en-US" sz="2000" dirty="0">
                <a:solidFill>
                  <a:prstClr val="black"/>
                </a:solidFill>
              </a:rPr>
              <a:t>的大小。</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GB"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pic>
        <p:nvPicPr>
          <p:cNvPr id="11"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16" name="图片 15"/>
          <p:cNvPicPr/>
          <p:nvPr/>
        </p:nvPicPr>
        <p:blipFill>
          <a:blip r:embed="rId6">
            <a:extLst>
              <a:ext uri="{28A0092B-C50C-407E-A947-70E740481C1C}">
                <a14:useLocalDpi xmlns:a14="http://schemas.microsoft.com/office/drawing/2010/main" val="0"/>
              </a:ext>
            </a:extLst>
          </a:blip>
          <a:srcRect/>
          <a:stretch>
            <a:fillRect/>
          </a:stretch>
        </p:blipFill>
        <p:spPr bwMode="auto">
          <a:xfrm>
            <a:off x="86315" y="3010740"/>
            <a:ext cx="4488815" cy="3449955"/>
          </a:xfrm>
          <a:prstGeom prst="rect">
            <a:avLst/>
          </a:prstGeom>
          <a:noFill/>
          <a:ln>
            <a:noFill/>
          </a:ln>
        </p:spPr>
      </p:pic>
      <p:pic>
        <p:nvPicPr>
          <p:cNvPr id="17" name="图片 16"/>
          <p:cNvPicPr/>
          <p:nvPr/>
        </p:nvPicPr>
        <p:blipFill>
          <a:blip r:embed="rId7">
            <a:extLst>
              <a:ext uri="{28A0092B-C50C-407E-A947-70E740481C1C}">
                <a14:useLocalDpi xmlns:a14="http://schemas.microsoft.com/office/drawing/2010/main" val="0"/>
              </a:ext>
            </a:extLst>
          </a:blip>
          <a:srcRect/>
          <a:stretch>
            <a:fillRect/>
          </a:stretch>
        </p:blipFill>
        <p:spPr bwMode="auto">
          <a:xfrm>
            <a:off x="3965669" y="3010739"/>
            <a:ext cx="4488815" cy="3449955"/>
          </a:xfrm>
          <a:prstGeom prst="rect">
            <a:avLst/>
          </a:prstGeom>
          <a:noFill/>
          <a:ln>
            <a:noFill/>
          </a:ln>
        </p:spPr>
      </p:pic>
    </p:spTree>
    <p:extLst>
      <p:ext uri="{BB962C8B-B14F-4D97-AF65-F5344CB8AC3E}">
        <p14:creationId xmlns:p14="http://schemas.microsoft.com/office/powerpoint/2010/main" val="328270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0531" y="1185372"/>
            <a:ext cx="2997305" cy="95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6"/>
          <p:cNvSpPr txBox="1"/>
          <p:nvPr/>
        </p:nvSpPr>
        <p:spPr>
          <a:xfrm>
            <a:off x="3563888" y="1462686"/>
            <a:ext cx="3994820" cy="400110"/>
          </a:xfrm>
          <a:prstGeom prst="rect">
            <a:avLst/>
          </a:prstGeom>
          <a:solidFill>
            <a:schemeClr val="bg1"/>
          </a:solidFill>
          <a:ln>
            <a:noFill/>
          </a:ln>
          <a:effectLst>
            <a:outerShdw blurRad="190500" dist="38100" dir="2700000" algn="tl" rotWithShape="0">
              <a:prstClr val="black">
                <a:alpha val="2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随机线性网络编解码测试</a:t>
            </a:r>
            <a:endParaRPr kumimoji="0" lang="zh-CN" altLang="en-US" sz="20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TextBox 41"/>
          <p:cNvSpPr txBox="1"/>
          <p:nvPr/>
        </p:nvSpPr>
        <p:spPr>
          <a:xfrm>
            <a:off x="611560" y="2649428"/>
            <a:ext cx="7920880" cy="5016710"/>
          </a:xfrm>
          <a:prstGeom prst="rect">
            <a:avLst/>
          </a:prstGeom>
          <a:noFill/>
        </p:spPr>
        <p:txBody>
          <a:bodyPr wrap="square" lIns="60911" tIns="30456" rIns="60911" bIns="30456" rtlCol="0">
            <a:spAutoFit/>
          </a:bodyPr>
          <a:lstStyle/>
          <a:p>
            <a:pPr lvl="0" indent="457200" algn="just">
              <a:lnSpc>
                <a:spcPct val="150000"/>
              </a:lnSpc>
            </a:pPr>
            <a:r>
              <a:rPr lang="zh-CN" altLang="zh-CN" dirty="0"/>
              <a:t>编码和解码的实验结果直观地表明：使用随机线性网络编解码时，当设备的</a:t>
            </a:r>
            <a:r>
              <a:rPr lang="zh-CN" altLang="zh-CN" dirty="0">
                <a:solidFill>
                  <a:srgbClr val="FF0000"/>
                </a:solidFill>
              </a:rPr>
              <a:t>存储空间充裕</a:t>
            </a:r>
            <a:r>
              <a:rPr lang="zh-CN" altLang="zh-CN" dirty="0"/>
              <a:t>时，完全可以用二维查表型运算库，通过占用存储空间的增加来换取极为高效的编码效率；当</a:t>
            </a:r>
            <a:r>
              <a:rPr lang="zh-CN" altLang="zh-CN" dirty="0">
                <a:solidFill>
                  <a:srgbClr val="FF0000"/>
                </a:solidFill>
              </a:rPr>
              <a:t>存储空间较小</a:t>
            </a:r>
            <a:r>
              <a:rPr lang="zh-CN" altLang="zh-CN" dirty="0"/>
              <a:t>时，可以选择使用改进方法</a:t>
            </a:r>
            <a:r>
              <a:rPr lang="en-US" altLang="zh-CN" dirty="0"/>
              <a:t>2</a:t>
            </a:r>
            <a:r>
              <a:rPr lang="zh-CN" altLang="zh-CN" dirty="0"/>
              <a:t>的运算库，小幅度增加占用存储空间的大小，提升编码效率；最后，如果追求</a:t>
            </a:r>
            <a:r>
              <a:rPr lang="zh-CN" altLang="zh-CN" dirty="0">
                <a:solidFill>
                  <a:srgbClr val="FF0000"/>
                </a:solidFill>
              </a:rPr>
              <a:t>最小化对存储空间的占用</a:t>
            </a:r>
            <a:r>
              <a:rPr lang="zh-CN" altLang="zh-CN" dirty="0"/>
              <a:t>，可以选择使用改进方法</a:t>
            </a:r>
            <a:r>
              <a:rPr lang="en-US" altLang="zh-CN" dirty="0"/>
              <a:t>1</a:t>
            </a:r>
            <a:r>
              <a:rPr lang="zh-CN" altLang="zh-CN" dirty="0"/>
              <a:t>的运算库，与基本运算方法比较，也有着一定的效率提升。</a:t>
            </a: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GB"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pic>
        <p:nvPicPr>
          <p:cNvPr id="11"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Tree>
    <p:extLst>
      <p:ext uri="{BB962C8B-B14F-4D97-AF65-F5344CB8AC3E}">
        <p14:creationId xmlns:p14="http://schemas.microsoft.com/office/powerpoint/2010/main" val="140041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0306" y="1080005"/>
            <a:ext cx="2997305" cy="95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6"/>
          <p:cNvSpPr txBox="1"/>
          <p:nvPr/>
        </p:nvSpPr>
        <p:spPr>
          <a:xfrm>
            <a:off x="577180" y="1361750"/>
            <a:ext cx="3994820" cy="400110"/>
          </a:xfrm>
          <a:prstGeom prst="rect">
            <a:avLst/>
          </a:prstGeom>
          <a:solidFill>
            <a:schemeClr val="bg1"/>
          </a:solidFill>
          <a:ln>
            <a:noFill/>
          </a:ln>
          <a:effectLst>
            <a:outerShdw blurRad="190500" dist="38100" dir="2700000" algn="tl" rotWithShape="0">
              <a:prstClr val="black">
                <a:alpha val="2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稀疏网络编解码测试</a:t>
            </a:r>
            <a:endParaRPr kumimoji="0" lang="zh-CN" altLang="en-US" sz="20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TextBox 41"/>
          <p:cNvSpPr txBox="1"/>
          <p:nvPr/>
        </p:nvSpPr>
        <p:spPr>
          <a:xfrm>
            <a:off x="611560" y="2160648"/>
            <a:ext cx="7920880" cy="3139272"/>
          </a:xfrm>
          <a:prstGeom prst="rect">
            <a:avLst/>
          </a:prstGeom>
          <a:noFill/>
        </p:spPr>
        <p:txBody>
          <a:bodyPr wrap="square" lIns="60911" tIns="30456" rIns="60911" bIns="30456" rtlCol="0">
            <a:spAutoFit/>
          </a:bodyPr>
          <a:lstStyle/>
          <a:p>
            <a:pPr lvl="0" indent="457200" algn="just"/>
            <a:r>
              <a:rPr kumimoji="0" lang="zh-CN" altLang="en-US"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在</a:t>
            </a:r>
            <a:r>
              <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GF(2</a:t>
            </a:r>
            <a:r>
              <a:rPr kumimoji="0" lang="en-US" altLang="zh-CN" sz="2000" b="0" i="0" u="none" strike="noStrike" kern="1200" cap="none" spc="0" normalizeH="0" baseline="30000" noProof="0" dirty="0" smtClean="0">
                <a:ln>
                  <a:noFill/>
                </a:ln>
                <a:solidFill>
                  <a:prstClr val="black"/>
                </a:solidFill>
                <a:effectLst/>
                <a:uLnTx/>
                <a:uFillTx/>
                <a:latin typeface="Calibri"/>
                <a:ea typeface="宋体" panose="02010600030101010101" pitchFamily="2" charset="-122"/>
                <a:cs typeface="+mn-cs"/>
              </a:rPr>
              <a:t>8</a:t>
            </a:r>
            <a:r>
              <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a:t>
            </a:r>
            <a:r>
              <a:rPr lang="zh-CN" altLang="en-US" sz="2000" dirty="0">
                <a:solidFill>
                  <a:prstClr val="black"/>
                </a:solidFill>
              </a:rPr>
              <a:t>上，使用</a:t>
            </a:r>
            <a:r>
              <a:rPr lang="en-US" altLang="zh-CN" sz="2000" dirty="0">
                <a:solidFill>
                  <a:prstClr val="black"/>
                </a:solidFill>
              </a:rPr>
              <a:t>10×10</a:t>
            </a:r>
            <a:r>
              <a:rPr lang="zh-CN" altLang="en-US" sz="2000" dirty="0">
                <a:solidFill>
                  <a:prstClr val="black"/>
                </a:solidFill>
              </a:rPr>
              <a:t>大小的稀疏编码矩阵编码</a:t>
            </a:r>
            <a:r>
              <a:rPr lang="en-US" altLang="zh-CN" sz="2000" dirty="0">
                <a:solidFill>
                  <a:prstClr val="black"/>
                </a:solidFill>
              </a:rPr>
              <a:t>10×10M</a:t>
            </a:r>
            <a:r>
              <a:rPr lang="zh-CN" altLang="en-US" sz="2000" dirty="0">
                <a:solidFill>
                  <a:prstClr val="black"/>
                </a:solidFill>
              </a:rPr>
              <a:t>大小的数据块，通过改变矩阵的稀疏度，测试不同方法下的编码时间。</a:t>
            </a: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GB"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pic>
        <p:nvPicPr>
          <p:cNvPr id="11"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13" name="图片 12"/>
          <p:cNvPicPr/>
          <p:nvPr/>
        </p:nvPicPr>
        <p:blipFill>
          <a:blip r:embed="rId6">
            <a:extLst>
              <a:ext uri="{28A0092B-C50C-407E-A947-70E740481C1C}">
                <a14:useLocalDpi xmlns:a14="http://schemas.microsoft.com/office/drawing/2010/main" val="0"/>
              </a:ext>
            </a:extLst>
          </a:blip>
          <a:srcRect/>
          <a:stretch>
            <a:fillRect/>
          </a:stretch>
        </p:blipFill>
        <p:spPr bwMode="auto">
          <a:xfrm>
            <a:off x="2327592" y="2790765"/>
            <a:ext cx="4488815" cy="3449955"/>
          </a:xfrm>
          <a:prstGeom prst="rect">
            <a:avLst/>
          </a:prstGeom>
          <a:noFill/>
          <a:ln>
            <a:noFill/>
          </a:ln>
        </p:spPr>
      </p:pic>
    </p:spTree>
    <p:extLst>
      <p:ext uri="{BB962C8B-B14F-4D97-AF65-F5344CB8AC3E}">
        <p14:creationId xmlns:p14="http://schemas.microsoft.com/office/powerpoint/2010/main" val="304743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0306" y="1080005"/>
            <a:ext cx="2997305" cy="95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6"/>
          <p:cNvSpPr txBox="1"/>
          <p:nvPr/>
        </p:nvSpPr>
        <p:spPr>
          <a:xfrm>
            <a:off x="577180" y="1361750"/>
            <a:ext cx="3994820" cy="400110"/>
          </a:xfrm>
          <a:prstGeom prst="rect">
            <a:avLst/>
          </a:prstGeom>
          <a:solidFill>
            <a:schemeClr val="bg1"/>
          </a:solidFill>
          <a:ln>
            <a:noFill/>
          </a:ln>
          <a:effectLst>
            <a:outerShdw blurRad="190500" dist="38100" dir="2700000" algn="tl" rotWithShape="0">
              <a:prstClr val="black">
                <a:alpha val="2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二稀疏网络编解码测试</a:t>
            </a:r>
            <a:endParaRPr kumimoji="0" lang="zh-CN" altLang="en-US" sz="20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TextBox 41"/>
          <p:cNvSpPr txBox="1"/>
          <p:nvPr/>
        </p:nvSpPr>
        <p:spPr>
          <a:xfrm>
            <a:off x="611560" y="2160648"/>
            <a:ext cx="7920880" cy="2523719"/>
          </a:xfrm>
          <a:prstGeom prst="rect">
            <a:avLst/>
          </a:prstGeom>
          <a:noFill/>
        </p:spPr>
        <p:txBody>
          <a:bodyPr wrap="square" lIns="60911" tIns="30456" rIns="60911" bIns="30456" rtlCol="0">
            <a:spAutoFit/>
          </a:bodyPr>
          <a:lstStyle/>
          <a:p>
            <a:pPr lvl="0" indent="457200" algn="just"/>
            <a:r>
              <a:rPr kumimoji="0" lang="zh-CN" altLang="en-US"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在</a:t>
            </a:r>
            <a:r>
              <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GF(2</a:t>
            </a:r>
            <a:r>
              <a:rPr kumimoji="0" lang="en-US" altLang="zh-CN" sz="2000" b="0" i="0" u="none" strike="noStrike" kern="1200" cap="none" spc="0" normalizeH="0" baseline="30000" noProof="0" dirty="0" smtClean="0">
                <a:ln>
                  <a:noFill/>
                </a:ln>
                <a:solidFill>
                  <a:prstClr val="black"/>
                </a:solidFill>
                <a:effectLst/>
                <a:uLnTx/>
                <a:uFillTx/>
                <a:latin typeface="Calibri"/>
                <a:ea typeface="宋体" panose="02010600030101010101" pitchFamily="2" charset="-122"/>
                <a:cs typeface="+mn-cs"/>
              </a:rPr>
              <a:t>8</a:t>
            </a:r>
            <a:r>
              <a:rPr kumimoji="0" lang="en-US" altLang="zh-CN" sz="2000" b="0" i="0" u="none" strike="noStrike" kern="1200" cap="none" spc="0" normalizeH="0" baseline="0" noProof="0" dirty="0" smtClean="0">
                <a:ln>
                  <a:noFill/>
                </a:ln>
                <a:solidFill>
                  <a:prstClr val="black"/>
                </a:solidFill>
                <a:effectLst/>
                <a:uLnTx/>
                <a:uFillTx/>
                <a:latin typeface="Calibri"/>
                <a:ea typeface="宋体" panose="02010600030101010101"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上</a:t>
            </a:r>
            <a:r>
              <a:rPr lang="zh-CN" altLang="en-US" sz="2000" dirty="0">
                <a:solidFill>
                  <a:prstClr val="black"/>
                </a:solidFill>
              </a:rPr>
              <a:t>，在</a:t>
            </a:r>
            <a:r>
              <a:rPr lang="en-US" altLang="zh-CN" sz="2000" dirty="0">
                <a:solidFill>
                  <a:prstClr val="black"/>
                </a:solidFill>
              </a:rPr>
              <a:t>10×10</a:t>
            </a:r>
            <a:r>
              <a:rPr lang="zh-CN" altLang="en-US" sz="2000" dirty="0">
                <a:solidFill>
                  <a:prstClr val="black"/>
                </a:solidFill>
              </a:rPr>
              <a:t>大小的二稀疏度编码矩阵下进行</a:t>
            </a:r>
            <a:r>
              <a:rPr lang="zh-CN" altLang="en-US" sz="2000" dirty="0" smtClean="0">
                <a:solidFill>
                  <a:prstClr val="black"/>
                </a:solidFill>
              </a:rPr>
              <a:t>编码和解码数据</a:t>
            </a:r>
            <a:r>
              <a:rPr lang="zh-CN" altLang="en-US" sz="2000" dirty="0">
                <a:solidFill>
                  <a:prstClr val="black"/>
                </a:solidFill>
              </a:rPr>
              <a:t>块</a:t>
            </a:r>
            <a:r>
              <a:rPr lang="en-US" altLang="zh-CN" sz="2000" dirty="0">
                <a:solidFill>
                  <a:prstClr val="black"/>
                </a:solidFill>
              </a:rPr>
              <a:t>X</a:t>
            </a:r>
            <a:r>
              <a:rPr lang="zh-CN" altLang="en-US" sz="2000" dirty="0">
                <a:solidFill>
                  <a:prstClr val="black"/>
                </a:solidFill>
              </a:rPr>
              <a:t>的过程，变量为待编码数据块</a:t>
            </a:r>
            <a:r>
              <a:rPr lang="en-US" altLang="zh-CN" sz="2000" dirty="0">
                <a:solidFill>
                  <a:prstClr val="black"/>
                </a:solidFill>
              </a:rPr>
              <a:t>X</a:t>
            </a:r>
            <a:r>
              <a:rPr lang="zh-CN" altLang="en-US" sz="2000" dirty="0">
                <a:solidFill>
                  <a:prstClr val="black"/>
                </a:solidFill>
              </a:rPr>
              <a:t>的每一行</a:t>
            </a:r>
            <a:r>
              <a:rPr lang="en-US" altLang="zh-CN" sz="2000" dirty="0">
                <a:solidFill>
                  <a:prstClr val="black"/>
                </a:solidFill>
              </a:rPr>
              <a:t>(X1)</a:t>
            </a:r>
            <a:r>
              <a:rPr lang="zh-CN" altLang="en-US" sz="2000" dirty="0">
                <a:solidFill>
                  <a:prstClr val="black"/>
                </a:solidFill>
              </a:rPr>
              <a:t>的</a:t>
            </a:r>
            <a:r>
              <a:rPr lang="zh-CN" altLang="en-US" sz="2000" dirty="0" smtClean="0">
                <a:solidFill>
                  <a:prstClr val="black"/>
                </a:solidFill>
              </a:rPr>
              <a:t>大小。</a:t>
            </a: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a:p>
            <a:pPr marL="0" marR="0" lvl="0" indent="457200" algn="just" defTabSz="914400" rtl="0" eaLnBrk="1" fontAlgn="auto" latinLnBrk="0" hangingPunct="1">
              <a:lnSpc>
                <a:spcPct val="100000"/>
              </a:lnSpc>
              <a:spcBef>
                <a:spcPts val="0"/>
              </a:spcBef>
              <a:spcAft>
                <a:spcPts val="0"/>
              </a:spcAft>
              <a:buClrTx/>
              <a:buSzTx/>
              <a:buFontTx/>
              <a:buNone/>
              <a:tabLst/>
              <a:defRPr/>
            </a:pPr>
            <a:endParaRPr kumimoji="0" lang="en-GB"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pic>
        <p:nvPicPr>
          <p:cNvPr id="11"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pic>
        <p:nvPicPr>
          <p:cNvPr id="10" name="图片 9"/>
          <p:cNvPicPr/>
          <p:nvPr/>
        </p:nvPicPr>
        <p:blipFill>
          <a:blip r:embed="rId6">
            <a:extLst>
              <a:ext uri="{28A0092B-C50C-407E-A947-70E740481C1C}">
                <a14:useLocalDpi xmlns:a14="http://schemas.microsoft.com/office/drawing/2010/main" val="0"/>
              </a:ext>
            </a:extLst>
          </a:blip>
          <a:srcRect/>
          <a:stretch>
            <a:fillRect/>
          </a:stretch>
        </p:blipFill>
        <p:spPr bwMode="auto">
          <a:xfrm>
            <a:off x="83185" y="2761599"/>
            <a:ext cx="4488815" cy="3449955"/>
          </a:xfrm>
          <a:prstGeom prst="rect">
            <a:avLst/>
          </a:prstGeom>
          <a:noFill/>
          <a:ln>
            <a:noFill/>
          </a:ln>
        </p:spPr>
      </p:pic>
      <p:pic>
        <p:nvPicPr>
          <p:cNvPr id="14" name="图片 13"/>
          <p:cNvPicPr/>
          <p:nvPr/>
        </p:nvPicPr>
        <p:blipFill>
          <a:blip r:embed="rId7">
            <a:extLst>
              <a:ext uri="{28A0092B-C50C-407E-A947-70E740481C1C}">
                <a14:useLocalDpi xmlns:a14="http://schemas.microsoft.com/office/drawing/2010/main" val="0"/>
              </a:ext>
            </a:extLst>
          </a:blip>
          <a:srcRect/>
          <a:stretch>
            <a:fillRect/>
          </a:stretch>
        </p:blipFill>
        <p:spPr bwMode="auto">
          <a:xfrm>
            <a:off x="4043625" y="2776182"/>
            <a:ext cx="4488815" cy="3449955"/>
          </a:xfrm>
          <a:prstGeom prst="rect">
            <a:avLst/>
          </a:prstGeom>
          <a:noFill/>
          <a:ln>
            <a:noFill/>
          </a:ln>
        </p:spPr>
      </p:pic>
    </p:spTree>
    <p:extLst>
      <p:ext uri="{BB962C8B-B14F-4D97-AF65-F5344CB8AC3E}">
        <p14:creationId xmlns:p14="http://schemas.microsoft.com/office/powerpoint/2010/main" val="5711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0306" y="1080005"/>
            <a:ext cx="2997305" cy="95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6"/>
          <p:cNvSpPr txBox="1"/>
          <p:nvPr/>
        </p:nvSpPr>
        <p:spPr>
          <a:xfrm>
            <a:off x="577180" y="1361750"/>
            <a:ext cx="3994820" cy="400110"/>
          </a:xfrm>
          <a:prstGeom prst="rect">
            <a:avLst/>
          </a:prstGeom>
          <a:solidFill>
            <a:schemeClr val="bg1"/>
          </a:solidFill>
          <a:ln>
            <a:noFill/>
          </a:ln>
          <a:effectLst>
            <a:outerShdw blurRad="190500" dist="38100" dir="2700000" algn="tl" rotWithShape="0">
              <a:prstClr val="black">
                <a:alpha val="2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二稀疏网络编解码测试</a:t>
            </a:r>
            <a:endParaRPr kumimoji="0" lang="zh-CN" altLang="en-US" sz="20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TextBox 41"/>
          <p:cNvSpPr txBox="1"/>
          <p:nvPr/>
        </p:nvSpPr>
        <p:spPr>
          <a:xfrm>
            <a:off x="611560" y="2200675"/>
            <a:ext cx="7920880" cy="1908166"/>
          </a:xfrm>
          <a:prstGeom prst="rect">
            <a:avLst/>
          </a:prstGeom>
          <a:noFill/>
        </p:spPr>
        <p:txBody>
          <a:bodyPr wrap="square" lIns="60911" tIns="30456" rIns="60911" bIns="30456" rtlCol="0">
            <a:spAutoFit/>
          </a:bodyPr>
          <a:lstStyle/>
          <a:p>
            <a:pPr lvl="0" indent="457200" algn="just">
              <a:lnSpc>
                <a:spcPct val="150000"/>
              </a:lnSpc>
            </a:pPr>
            <a:r>
              <a:rPr lang="zh-CN" altLang="en-US" sz="2000" dirty="0">
                <a:solidFill>
                  <a:prstClr val="black"/>
                </a:solidFill>
              </a:rPr>
              <a:t>当采用稀疏网络编解码时，如果不以时间效率为首要指标，则可以采用改进方法</a:t>
            </a:r>
            <a:r>
              <a:rPr lang="en-US" altLang="zh-CN" sz="2000" dirty="0">
                <a:solidFill>
                  <a:prstClr val="black"/>
                </a:solidFill>
              </a:rPr>
              <a:t>2</a:t>
            </a:r>
            <a:r>
              <a:rPr lang="zh-CN" altLang="en-US" sz="2000" dirty="0">
                <a:solidFill>
                  <a:prstClr val="black"/>
                </a:solidFill>
              </a:rPr>
              <a:t>，占用空间较少且时间效率较高；若时间效率仍为最重要指标，则依旧采用二维查表</a:t>
            </a:r>
            <a:r>
              <a:rPr lang="zh-CN" altLang="en-US" sz="2000" dirty="0" smtClean="0">
                <a:solidFill>
                  <a:prstClr val="black"/>
                </a:solidFill>
              </a:rPr>
              <a:t>法；</a:t>
            </a:r>
            <a:r>
              <a:rPr lang="zh-CN" altLang="zh-CN" sz="2000" dirty="0"/>
              <a:t>如果追求最小化对存储空间的占用</a:t>
            </a:r>
            <a:r>
              <a:rPr lang="zh-CN" altLang="zh-CN" sz="2000" dirty="0" smtClean="0"/>
              <a:t>，</a:t>
            </a:r>
            <a:r>
              <a:rPr lang="zh-CN" altLang="en-US" sz="2000" dirty="0" smtClean="0"/>
              <a:t>依旧</a:t>
            </a:r>
            <a:r>
              <a:rPr lang="zh-CN" altLang="zh-CN" sz="2000" dirty="0" smtClean="0"/>
              <a:t>可以</a:t>
            </a:r>
            <a:r>
              <a:rPr lang="zh-CN" altLang="zh-CN" sz="2000" dirty="0"/>
              <a:t>选择使用改进方法</a:t>
            </a:r>
            <a:r>
              <a:rPr lang="en-US" altLang="zh-CN" sz="2000" dirty="0"/>
              <a:t>1</a:t>
            </a:r>
            <a:r>
              <a:rPr lang="zh-CN" altLang="zh-CN" sz="2000" dirty="0"/>
              <a:t>的运算</a:t>
            </a:r>
            <a:r>
              <a:rPr lang="zh-CN" altLang="zh-CN" sz="2000" dirty="0" smtClean="0"/>
              <a:t>库</a:t>
            </a:r>
            <a:r>
              <a:rPr lang="zh-CN" altLang="en-US" sz="2000" dirty="0" smtClean="0"/>
              <a:t>。</a:t>
            </a:r>
            <a:endParaRPr kumimoji="0" lang="en-GB"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mn-lt"/>
            </a:endParaRPr>
          </a:p>
        </p:txBody>
      </p:sp>
      <p:pic>
        <p:nvPicPr>
          <p:cNvPr id="11"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Tree>
    <p:extLst>
      <p:ext uri="{BB962C8B-B14F-4D97-AF65-F5344CB8AC3E}">
        <p14:creationId xmlns:p14="http://schemas.microsoft.com/office/powerpoint/2010/main" val="225702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cxnSp>
        <p:nvCxnSpPr>
          <p:cNvPr id="3" name="直接连接符 2"/>
          <p:cNvCxnSpPr/>
          <p:nvPr/>
        </p:nvCxnSpPr>
        <p:spPr>
          <a:xfrm>
            <a:off x="611560" y="2924944"/>
            <a:ext cx="756084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4211960" y="1434681"/>
            <a:ext cx="2322383" cy="646538"/>
          </a:xfrm>
          <a:prstGeom prst="rect">
            <a:avLst/>
          </a:prstGeom>
          <a:gradFill>
            <a:gsLst>
              <a:gs pos="0">
                <a:srgbClr val="6483B3"/>
              </a:gs>
              <a:gs pos="100000">
                <a:srgbClr val="334E6E"/>
              </a:gs>
            </a:gsLst>
            <a:lin ang="2700000" scaled="0"/>
          </a:gradFill>
          <a:ln>
            <a:noFill/>
          </a:ln>
          <a:effectLst>
            <a:outerShdw blurRad="1905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200" dirty="0">
              <a:latin typeface="微软雅黑" panose="020B0503020204020204" pitchFamily="34" charset="-122"/>
              <a:ea typeface="微软雅黑" panose="020B0503020204020204" pitchFamily="34" charset="-122"/>
            </a:endParaRPr>
          </a:p>
        </p:txBody>
      </p:sp>
      <p:sp>
        <p:nvSpPr>
          <p:cNvPr id="10" name="TextBox 76"/>
          <p:cNvSpPr txBox="1"/>
          <p:nvPr/>
        </p:nvSpPr>
        <p:spPr>
          <a:xfrm>
            <a:off x="4995659" y="1543022"/>
            <a:ext cx="3067105" cy="400110"/>
          </a:xfrm>
          <a:prstGeom prst="rect">
            <a:avLst/>
          </a:prstGeom>
          <a:noFill/>
          <a:effectLst/>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总结</a:t>
            </a:r>
          </a:p>
        </p:txBody>
      </p:sp>
      <p:sp>
        <p:nvSpPr>
          <p:cNvPr id="11" name="TextBox 41"/>
          <p:cNvSpPr txBox="1"/>
          <p:nvPr/>
        </p:nvSpPr>
        <p:spPr>
          <a:xfrm>
            <a:off x="323528" y="3253873"/>
            <a:ext cx="8545985" cy="2523719"/>
          </a:xfrm>
          <a:prstGeom prst="rect">
            <a:avLst/>
          </a:prstGeom>
          <a:noFill/>
        </p:spPr>
        <p:txBody>
          <a:bodyPr wrap="square" lIns="60911" tIns="30456" rIns="60911" bIns="30456" rtlCol="0">
            <a:spAutoFit/>
          </a:bodyPr>
          <a:lstStyle/>
          <a:p>
            <a:r>
              <a:rPr lang="zh-CN" altLang="en-US" sz="2000" dirty="0"/>
              <a:t>①设计了乘法、除法算法的改进方法</a:t>
            </a:r>
            <a:r>
              <a:rPr lang="en-US" altLang="zh-CN" sz="2000" dirty="0"/>
              <a:t>1</a:t>
            </a:r>
            <a:r>
              <a:rPr lang="zh-CN" altLang="en-US" sz="2000" dirty="0"/>
              <a:t>、</a:t>
            </a:r>
            <a:r>
              <a:rPr lang="en-US" altLang="zh-CN" sz="2000" dirty="0"/>
              <a:t>2</a:t>
            </a:r>
            <a:r>
              <a:rPr lang="zh-CN" altLang="en-US" sz="2000" dirty="0"/>
              <a:t>，</a:t>
            </a:r>
            <a:r>
              <a:rPr lang="zh-CN" altLang="en-US" sz="2000" dirty="0" smtClean="0"/>
              <a:t>同时引入</a:t>
            </a:r>
            <a:r>
              <a:rPr lang="zh-CN" altLang="en-US" sz="2000" dirty="0"/>
              <a:t>了二维查表</a:t>
            </a:r>
            <a:r>
              <a:rPr lang="zh-CN" altLang="en-US" sz="2000" dirty="0" smtClean="0"/>
              <a:t>方法；</a:t>
            </a:r>
            <a:endParaRPr lang="en-US" altLang="zh-CN" sz="2000" dirty="0" smtClean="0"/>
          </a:p>
          <a:p>
            <a:endParaRPr lang="zh-CN" altLang="en-US" sz="2000" dirty="0"/>
          </a:p>
          <a:p>
            <a:r>
              <a:rPr lang="zh-CN" altLang="en-US" sz="2000" dirty="0" smtClean="0"/>
              <a:t>②</a:t>
            </a:r>
            <a:r>
              <a:rPr lang="zh-CN" altLang="en-US" sz="2000" dirty="0"/>
              <a:t>依据</a:t>
            </a:r>
            <a:r>
              <a:rPr lang="zh-CN" altLang="en-US" sz="2000" u="sng" dirty="0"/>
              <a:t>基本方法、改进方法</a:t>
            </a:r>
            <a:r>
              <a:rPr lang="en-US" altLang="zh-CN" sz="2000" u="sng" dirty="0"/>
              <a:t>1</a:t>
            </a:r>
            <a:r>
              <a:rPr lang="zh-CN" altLang="en-US" sz="2000" u="sng" dirty="0"/>
              <a:t>、</a:t>
            </a:r>
            <a:r>
              <a:rPr lang="en-US" altLang="zh-CN" sz="2000" u="sng" dirty="0"/>
              <a:t>2</a:t>
            </a:r>
            <a:r>
              <a:rPr lang="zh-CN" altLang="en-US" sz="2000" dirty="0"/>
              <a:t>、</a:t>
            </a:r>
            <a:r>
              <a:rPr lang="zh-CN" altLang="en-US" sz="2000" u="sng" dirty="0"/>
              <a:t>二维查表法</a:t>
            </a:r>
            <a:r>
              <a:rPr lang="zh-CN" altLang="en-US" sz="2000" dirty="0"/>
              <a:t>，编写了两类、四个运算</a:t>
            </a:r>
            <a:r>
              <a:rPr lang="zh-CN" altLang="en-US" sz="2000" dirty="0" smtClean="0"/>
              <a:t>库；</a:t>
            </a:r>
            <a:endParaRPr lang="en-US" altLang="zh-CN" sz="2000" dirty="0" smtClean="0"/>
          </a:p>
          <a:p>
            <a:endParaRPr lang="zh-CN" altLang="en-US" sz="2000" dirty="0"/>
          </a:p>
          <a:p>
            <a:pPr>
              <a:lnSpc>
                <a:spcPct val="150000"/>
              </a:lnSpc>
            </a:pPr>
            <a:r>
              <a:rPr lang="zh-CN" altLang="en-US" sz="2000" dirty="0" smtClean="0"/>
              <a:t>③使用上述四个运算库进行了算法效率测试、随机线性网络编解码和稀疏网 络编解码能力测试，分析了各个运算库的时间、空间效率。</a:t>
            </a:r>
            <a:endParaRPr lang="en-US" altLang="zh-CN" sz="2000" dirty="0" smtClean="0"/>
          </a:p>
          <a:p>
            <a:endParaRPr lang="zh-CN" altLang="en-US" sz="2000" dirty="0"/>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13" y="1013096"/>
            <a:ext cx="2592288" cy="1728192"/>
          </a:xfrm>
          <a:prstGeom prst="rect">
            <a:avLst/>
          </a:prstGeom>
        </p:spPr>
      </p:pic>
      <p:pic>
        <p:nvPicPr>
          <p:cNvPr id="16"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512" y="6240720"/>
            <a:ext cx="1619672" cy="462763"/>
          </a:xfrm>
          <a:prstGeom prst="rect">
            <a:avLst/>
          </a:prstGeom>
        </p:spPr>
      </p:pic>
    </p:spTree>
    <p:extLst>
      <p:ext uri="{BB962C8B-B14F-4D97-AF65-F5344CB8AC3E}">
        <p14:creationId xmlns:p14="http://schemas.microsoft.com/office/powerpoint/2010/main" val="176783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9000"/>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2279"/>
            <a:ext cx="9144000" cy="945214"/>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62764" y="31481"/>
            <a:ext cx="806749" cy="837693"/>
          </a:xfrm>
          <a:prstGeom prst="rect">
            <a:avLst/>
          </a:prstGeom>
        </p:spPr>
      </p:pic>
      <p:sp>
        <p:nvSpPr>
          <p:cNvPr id="2" name="TextBox 1"/>
          <p:cNvSpPr txBox="1"/>
          <p:nvPr/>
        </p:nvSpPr>
        <p:spPr>
          <a:xfrm>
            <a:off x="1676998" y="2724882"/>
            <a:ext cx="7192515" cy="1569660"/>
          </a:xfrm>
          <a:prstGeom prst="rect">
            <a:avLst/>
          </a:prstGeom>
          <a:noFill/>
        </p:spPr>
        <p:txBody>
          <a:bodyPr wrap="square" rtlCol="0">
            <a:spAutoFit/>
          </a:bodyPr>
          <a:lstStyle/>
          <a:p>
            <a:pPr algn="ctr"/>
            <a:r>
              <a:rPr lang="zh-CN" altLang="en-US" sz="9600" dirty="0" smtClean="0">
                <a:latin typeface="黑体" pitchFamily="49" charset="-122"/>
                <a:ea typeface="黑体" pitchFamily="49" charset="-122"/>
              </a:rPr>
              <a:t>谢谢！</a:t>
            </a:r>
            <a:endParaRPr lang="zh-CN" altLang="en-US" sz="9600" dirty="0">
              <a:latin typeface="黑体" pitchFamily="49" charset="-122"/>
              <a:ea typeface="黑体" pitchFamily="49" charset="-122"/>
            </a:endParaRPr>
          </a:p>
        </p:txBody>
      </p:sp>
      <p:pic>
        <p:nvPicPr>
          <p:cNvPr id="7" name="Picture 3" descr="E:\融媒体\图标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0306" y="188552"/>
            <a:ext cx="2872458" cy="523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2059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TotalTime>
  <Words>1758</Words>
  <Application>Microsoft Office PowerPoint</Application>
  <PresentationFormat>全屏显示(4:3)</PresentationFormat>
  <Paragraphs>198</Paragraphs>
  <Slides>27</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27</vt:i4>
      </vt:variant>
    </vt:vector>
  </HeadingPairs>
  <TitlesOfParts>
    <vt:vector size="39" baseType="lpstr">
      <vt:lpstr>Gill Sans</vt:lpstr>
      <vt:lpstr>Lato Black</vt:lpstr>
      <vt:lpstr>方正兰亭细黑_GBK</vt:lpstr>
      <vt:lpstr>黑体</vt:lpstr>
      <vt:lpstr>宋体</vt:lpstr>
      <vt:lpstr>微软雅黑</vt:lpstr>
      <vt:lpstr>Arial</vt:lpstr>
      <vt:lpstr>Calibri</vt:lpstr>
      <vt:lpstr>Segoe UI Semilight</vt:lpstr>
      <vt:lpstr>Wingdings</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906597521@qq.com</dc:creator>
  <cp:lastModifiedBy>Key</cp:lastModifiedBy>
  <cp:revision>60</cp:revision>
  <dcterms:created xsi:type="dcterms:W3CDTF">2020-05-07T04:57:50Z</dcterms:created>
  <dcterms:modified xsi:type="dcterms:W3CDTF">2020-06-01T10:03:02Z</dcterms:modified>
</cp:coreProperties>
</file>